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48" r:id="rId4"/>
  </p:sldMasterIdLst>
  <p:notesMasterIdLst>
    <p:notesMasterId r:id="rId11"/>
  </p:notesMasterIdLst>
  <p:sldIdLst>
    <p:sldId id="262" r:id="rId5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40ABF93B-A906-684D-9E6F-066862949D28}">
          <p14:sldIdLst>
            <p14:sldId id="262"/>
          </p14:sldIdLst>
        </p14:section>
        <p14:section name="目次" id="{765C4E6A-B60E-F74F-B29C-5E67E9E5F80E}">
          <p14:sldIdLst>
            <p14:sldId id="273"/>
            <p14:sldId id="274"/>
            <p14:sldId id="275"/>
            <p14:sldId id="276"/>
          </p14:sldIdLst>
        </p14:section>
        <p14:section name="サマリーページ" id="{67B52C6A-BAE9-AB45-8F46-E7D73BF656EE}">
          <p14:sldIdLst/>
        </p14:section>
        <p14:section name="本文ページ" id="{9E8024D9-D90F-3C4B-9350-E0D8255C5EE9}">
          <p14:sldIdLst/>
        </p14:section>
        <p14:section name="エンドページ" id="{963FDE01-6650-6C48-8EEF-ED0909724F5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D42A9B-5214-4228-BA62-C1E471E7CB9F}" v="11" dt="2026-06-08T06:17:37.442"/>
    <p1510:client id="{BF8CFFCE-4979-9BA3-6550-972B4F79222A}" v="2" dt="2026-06-08T06:18:16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68979-0868-F54B-8A16-EF87B52717AD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45815-7ED5-2B47-9FD5-7208D8EB2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87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848432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972687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3363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56053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0655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D36030F-F7F6-89D9-1E8B-919C67F352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8D66E334-2179-BD8B-4C78-D88148BB3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441326"/>
            <a:ext cx="7396161" cy="503237"/>
          </a:xfrm>
          <a:prstGeom prst="rect">
            <a:avLst/>
          </a:prstGeom>
        </p:spPr>
        <p:txBody>
          <a:bodyPr lIns="36000" tIns="36000" rIns="36000" bIns="36000" anchor="b"/>
          <a:lstStyle>
            <a:lvl1pPr>
              <a:defRPr sz="2800"/>
            </a:lvl1pPr>
          </a:lstStyle>
          <a:p>
            <a:r>
              <a:rPr kumimoji="1" lang="en-US" altLang="ja-JP"/>
              <a:t>Contents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3F89F8F-E526-55AE-57FE-D1A6B513F5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6" y="1700210"/>
            <a:ext cx="7920000" cy="324000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 marL="531813" marR="0" indent="-531813" algn="l" defTabSz="91440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 sz="2000" b="1" i="0" baseline="0">
                <a:latin typeface="+mn-ea"/>
                <a:ea typeface="+mn-ea"/>
              </a:defRPr>
            </a:lvl1pPr>
          </a:lstStyle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01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02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03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04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05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8479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マリー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A7C3B71-4618-9A75-67A2-F4216878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B4FCAA3-5990-811C-E439-02883A4ACB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1700213"/>
            <a:ext cx="11304000" cy="36000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B465CF-8AE5-2EC2-9548-C1BDA7AA9C6C}"/>
              </a:ext>
            </a:extLst>
          </p:cNvPr>
          <p:cNvSpPr txBox="1"/>
          <p:nvPr userDrawn="1"/>
        </p:nvSpPr>
        <p:spPr>
          <a:xfrm>
            <a:off x="10728000" y="6588000"/>
            <a:ext cx="1078787" cy="180000"/>
          </a:xfrm>
          <a:prstGeom prst="rect">
            <a:avLst/>
          </a:prstGeom>
          <a:noFill/>
        </p:spPr>
        <p:txBody>
          <a:bodyPr wrap="square" lIns="36000" tIns="0" rIns="36000" bIns="36000" rtlCol="0">
            <a:spAutoFit/>
          </a:bodyPr>
          <a:lstStyle/>
          <a:p>
            <a:pPr algn="r"/>
            <a:fld id="{6F9B6F7D-E57B-CF41-B692-3815F51E7F20}" type="slidenum">
              <a:rPr kumimoji="1" lang="en-US" altLang="ja-JP" sz="1200" smtClean="0">
                <a:solidFill>
                  <a:schemeClr val="tx2"/>
                </a:solidFill>
              </a:rPr>
              <a:pPr algn="r"/>
              <a:t>‹#›</a:t>
            </a:fld>
            <a:endParaRPr kumimoji="1" lang="ja-JP" altLang="en-US" sz="1200">
              <a:solidFill>
                <a:schemeClr val="tx2"/>
              </a:solidFill>
            </a:endParaRPr>
          </a:p>
        </p:txBody>
      </p:sp>
      <p:sp>
        <p:nvSpPr>
          <p:cNvPr id="4" name="テキスト プレースホルダー 6">
            <a:extLst>
              <a:ext uri="{FF2B5EF4-FFF2-40B4-BE49-F238E27FC236}">
                <a16:creationId xmlns:a16="http://schemas.microsoft.com/office/drawing/2014/main" id="{041C1FDF-7884-024B-ED48-5C7BBCBD96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7" y="2313799"/>
            <a:ext cx="11303999" cy="42108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470C54AA-4B52-74AB-B03F-BD262968F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EEB7B95B-D435-2DEF-6B12-B957AF84A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76017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（グラフィック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/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70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1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33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2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4" y="429"/>
            <a:ext cx="12189291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10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3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5" y="429"/>
            <a:ext cx="12189289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840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4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6" y="429"/>
            <a:ext cx="12187766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909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5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6" y="858"/>
            <a:ext cx="12187766" cy="685628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913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6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7" y="858"/>
            <a:ext cx="12187764" cy="685628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969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1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8ACCC-6192-B48E-0DE8-21DB80933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4FF82FA-83D6-2870-F11D-E56B31FE29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B4FCAA3-5990-811C-E439-02883A4ACB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16" name="コンテンツ プレースホルダー 15">
            <a:extLst>
              <a:ext uri="{FF2B5EF4-FFF2-40B4-BE49-F238E27FC236}">
                <a16:creationId xmlns:a16="http://schemas.microsoft.com/office/drawing/2014/main" id="{68D483B6-9E5C-E6FF-23F3-0F8B14FA29A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7788" y="1707538"/>
            <a:ext cx="11291300" cy="481708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1800"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本文／図表／グラフなど</a:t>
            </a:r>
          </a:p>
        </p:txBody>
      </p:sp>
    </p:spTree>
    <p:extLst>
      <p:ext uri="{BB962C8B-B14F-4D97-AF65-F5344CB8AC3E}">
        <p14:creationId xmlns:p14="http://schemas.microsoft.com/office/powerpoint/2010/main" val="4276278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2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3464DECF-362B-37C7-DE74-A70D582D33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11900" y="1707538"/>
            <a:ext cx="5421600" cy="4817086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336FD94B-A383-2887-ECD6-69A74A8A9B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1707537"/>
            <a:ext cx="5421600" cy="48170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E215BB28-FA02-AD5C-081A-45EE98AFB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BA750AC6-C963-5306-FA81-2F736C420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AF79DEFF-7A0E-005D-3F9A-AD1F3F6D3E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</p:spTree>
    <p:extLst>
      <p:ext uri="{BB962C8B-B14F-4D97-AF65-F5344CB8AC3E}">
        <p14:creationId xmlns:p14="http://schemas.microsoft.com/office/powerpoint/2010/main" val="990577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3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A8D05E6-F229-D56F-0037-26F0A0995E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1707537"/>
            <a:ext cx="3477600" cy="48170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4" name="グラフ プレースホルダー 3">
            <a:extLst>
              <a:ext uri="{FF2B5EF4-FFF2-40B4-BE49-F238E27FC236}">
                <a16:creationId xmlns:a16="http://schemas.microsoft.com/office/drawing/2014/main" id="{9B8ED9A9-E62A-3447-9DDF-B838F3EAB7A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356100" y="1707538"/>
            <a:ext cx="7377400" cy="4817086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54C1CE2-6444-0681-C19B-A717BCFBB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4D6149CA-82B9-987D-06ED-F3A518E072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9" name="テキスト プレースホルダー 7">
            <a:extLst>
              <a:ext uri="{FF2B5EF4-FFF2-40B4-BE49-F238E27FC236}">
                <a16:creationId xmlns:a16="http://schemas.microsoft.com/office/drawing/2014/main" id="{E3681C67-92A5-4C41-CDCC-5A2D2B107D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</p:spTree>
    <p:extLst>
      <p:ext uri="{BB962C8B-B14F-4D97-AF65-F5344CB8AC3E}">
        <p14:creationId xmlns:p14="http://schemas.microsoft.com/office/powerpoint/2010/main" val="2473342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588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ーム紹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図プレースホルダー 15">
            <a:extLst>
              <a:ext uri="{FF2B5EF4-FFF2-40B4-BE49-F238E27FC236}">
                <a16:creationId xmlns:a16="http://schemas.microsoft.com/office/drawing/2014/main" id="{C5EFBBBB-0C74-CA31-50FB-644F5281439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727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2" name="図プレースホルダー 15">
            <a:extLst>
              <a:ext uri="{FF2B5EF4-FFF2-40B4-BE49-F238E27FC236}">
                <a16:creationId xmlns:a16="http://schemas.microsoft.com/office/drawing/2014/main" id="{97DFF720-6BAE-03C8-8789-3C3179DB70E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4102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1" name="図プレースホルダー 15">
            <a:extLst>
              <a:ext uri="{FF2B5EF4-FFF2-40B4-BE49-F238E27FC236}">
                <a16:creationId xmlns:a16="http://schemas.microsoft.com/office/drawing/2014/main" id="{823C4E27-A211-0814-DC7A-CC993688CCF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092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0" name="図プレースホルダー 15">
            <a:extLst>
              <a:ext uri="{FF2B5EF4-FFF2-40B4-BE49-F238E27FC236}">
                <a16:creationId xmlns:a16="http://schemas.microsoft.com/office/drawing/2014/main" id="{A344FF5A-D05A-0FC1-CEFA-ACAB3512D0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7752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16" name="図プレースホルダー 15">
            <a:extLst>
              <a:ext uri="{FF2B5EF4-FFF2-40B4-BE49-F238E27FC236}">
                <a16:creationId xmlns:a16="http://schemas.microsoft.com/office/drawing/2014/main" id="{A8083422-6FFE-7488-F2FE-19A4EEE4A67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0BEDCF7C-FD40-3483-0747-F84C7401A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7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E00A5EC8-6CFE-0FB0-2B6D-4078ECF39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27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427C9F3C-7D08-9607-21F4-009202A970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2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E1FA41FC-8CAD-7FAD-E05A-569098FF5A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02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DF56E703-FCC9-A9E7-82A0-FB869AA019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92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A6DF8DAA-87FA-8FBA-2D3F-5E607B3DED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92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5" name="テキスト プレースホルダー 12">
            <a:extLst>
              <a:ext uri="{FF2B5EF4-FFF2-40B4-BE49-F238E27FC236}">
                <a16:creationId xmlns:a16="http://schemas.microsoft.com/office/drawing/2014/main" id="{2A0FCD61-F967-C961-FCD8-200E51E9C3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752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24" name="テキスト プレースホルダー 10">
            <a:extLst>
              <a:ext uri="{FF2B5EF4-FFF2-40B4-BE49-F238E27FC236}">
                <a16:creationId xmlns:a16="http://schemas.microsoft.com/office/drawing/2014/main" id="{0A3D99D0-0558-673E-1CAC-AECE6906B9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752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F4E7FC0E-E090-F628-8FEC-1386DE4E25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8C82914-C48F-FD11-8743-2256815BC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9" name="テキスト プレースホルダー 7">
            <a:extLst>
              <a:ext uri="{FF2B5EF4-FFF2-40B4-BE49-F238E27FC236}">
                <a16:creationId xmlns:a16="http://schemas.microsoft.com/office/drawing/2014/main" id="{C33379F1-CE82-3462-A23C-CADE82784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28" name="テキスト プレースホルダー 5">
            <a:extLst>
              <a:ext uri="{FF2B5EF4-FFF2-40B4-BE49-F238E27FC236}">
                <a16:creationId xmlns:a16="http://schemas.microsoft.com/office/drawing/2014/main" id="{686E8B1C-F73C-8563-C127-1026606BEA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27" name="タイトル 1">
            <a:extLst>
              <a:ext uri="{FF2B5EF4-FFF2-40B4-BE49-F238E27FC236}">
                <a16:creationId xmlns:a16="http://schemas.microsoft.com/office/drawing/2014/main" id="{09E3BA7D-EAFC-566B-680F-7031A373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</p:spTree>
    <p:extLst>
      <p:ext uri="{BB962C8B-B14F-4D97-AF65-F5344CB8AC3E}">
        <p14:creationId xmlns:p14="http://schemas.microsoft.com/office/powerpoint/2010/main" val="1450844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17E8DC1-3A04-1A4C-6D38-BB36F5B7E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2398726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2068913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1923560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3473873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_帯あり">
  <p:cSld name="タイトルとコンテンツ_帯あり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/>
          <p:nvPr/>
        </p:nvSpPr>
        <p:spPr>
          <a:xfrm rot="-5400000">
            <a:off x="5740682" y="-5734333"/>
            <a:ext cx="723333" cy="12192000"/>
          </a:xfrm>
          <a:prstGeom prst="rect">
            <a:avLst/>
          </a:prstGeom>
          <a:gradFill>
            <a:gsLst>
              <a:gs pos="0">
                <a:srgbClr val="59BEC9"/>
              </a:gs>
              <a:gs pos="50000">
                <a:srgbClr val="C8E9ED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■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2"/>
          </p:nvPr>
        </p:nvSpPr>
        <p:spPr>
          <a:xfrm>
            <a:off x="255955" y="0"/>
            <a:ext cx="10583282" cy="723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400">
                <a:solidFill>
                  <a:schemeClr val="accent4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4C39E3-371B-8B33-E781-2A089A704C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5200" y="90000"/>
            <a:ext cx="888053" cy="439200"/>
          </a:xfrm>
          <a:prstGeom prst="rect">
            <a:avLst/>
          </a:prstGeom>
        </p:spPr>
      </p:pic>
      <p:sp>
        <p:nvSpPr>
          <p:cNvPr id="4" name="Google Shape;36;p19">
            <a:extLst>
              <a:ext uri="{FF2B5EF4-FFF2-40B4-BE49-F238E27FC236}">
                <a16:creationId xmlns:a16="http://schemas.microsoft.com/office/drawing/2014/main" id="{5CF5CDC5-1B3C-CA18-5353-3158CBD78BF3}"/>
              </a:ext>
            </a:extLst>
          </p:cNvPr>
          <p:cNvSpPr/>
          <p:nvPr userDrawn="1"/>
        </p:nvSpPr>
        <p:spPr>
          <a:xfrm>
            <a:off x="155608" y="6569138"/>
            <a:ext cx="1640141" cy="253875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r>
              <a:rPr lang="en-US" altLang="ja-JP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&amp; Proprietary</a:t>
            </a:r>
            <a:endParaRPr sz="1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7;p19">
            <a:extLst>
              <a:ext uri="{FF2B5EF4-FFF2-40B4-BE49-F238E27FC236}">
                <a16:creationId xmlns:a16="http://schemas.microsoft.com/office/drawing/2014/main" id="{12694C6A-B8FA-3DE7-BE55-514EC3175EAA}"/>
              </a:ext>
            </a:extLst>
          </p:cNvPr>
          <p:cNvSpPr txBox="1"/>
          <p:nvPr userDrawn="1"/>
        </p:nvSpPr>
        <p:spPr>
          <a:xfrm>
            <a:off x="11446524" y="6569138"/>
            <a:ext cx="643549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fld id="{00000000-1234-1234-1234-123412341234}" type="slidenum">
              <a:rPr lang="ja-JP" sz="1050" b="0" i="0" u="none" strike="noStrike" cap="none" smtClean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6;p19">
            <a:extLst>
              <a:ext uri="{FF2B5EF4-FFF2-40B4-BE49-F238E27FC236}">
                <a16:creationId xmlns:a16="http://schemas.microsoft.com/office/drawing/2014/main" id="{689690C1-CA98-4066-7DF9-50DBFDD5A00E}"/>
              </a:ext>
            </a:extLst>
          </p:cNvPr>
          <p:cNvSpPr/>
          <p:nvPr userDrawn="1"/>
        </p:nvSpPr>
        <p:spPr>
          <a:xfrm>
            <a:off x="5067294" y="6569137"/>
            <a:ext cx="1640141" cy="253875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altLang="ja-JP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Copyright 2024 LXIO, Inc.</a:t>
            </a:r>
            <a:endParaRPr sz="900" b="0" i="0" u="none" strike="noStrike" cap="none" dirty="0">
              <a:solidFill>
                <a:schemeClr val="bg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5531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805153B-DA6A-29AE-88A5-4211FE467FCD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2DA7FA-A575-DC11-21A1-26144DE59EF5}"/>
              </a:ext>
            </a:extLst>
          </p:cNvPr>
          <p:cNvSpPr txBox="1"/>
          <p:nvPr userDrawn="1"/>
        </p:nvSpPr>
        <p:spPr>
          <a:xfrm>
            <a:off x="10728000" y="6588000"/>
            <a:ext cx="1078787" cy="180000"/>
          </a:xfrm>
          <a:prstGeom prst="rect">
            <a:avLst/>
          </a:prstGeom>
          <a:noFill/>
        </p:spPr>
        <p:txBody>
          <a:bodyPr wrap="square" lIns="36000" tIns="0" rIns="36000" bIns="36000" rtlCol="0">
            <a:spAutoFit/>
          </a:bodyPr>
          <a:lstStyle/>
          <a:p>
            <a:pPr algn="r"/>
            <a:fld id="{6F9B6F7D-E57B-CF41-B692-3815F51E7F20}" type="slidenum">
              <a:rPr kumimoji="1" lang="en-US" altLang="ja-JP" sz="1200" smtClean="0">
                <a:solidFill>
                  <a:schemeClr val="tx2"/>
                </a:solidFill>
              </a:rPr>
              <a:pPr algn="r"/>
              <a:t>‹#›</a:t>
            </a:fld>
            <a:endParaRPr kumimoji="1" lang="ja-JP" alt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71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60" r:id="rId6"/>
    <p:sldLayoutId id="2147483658" r:id="rId7"/>
    <p:sldLayoutId id="2147483661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55" r:id="rId15"/>
    <p:sldLayoutId id="2147483656" r:id="rId16"/>
    <p:sldLayoutId id="2147483657" r:id="rId17"/>
    <p:sldLayoutId id="2147483677" r:id="rId18"/>
    <p:sldLayoutId id="2147483676" r:id="rId19"/>
    <p:sldLayoutId id="2147483653" r:id="rId20"/>
    <p:sldLayoutId id="2147483654" r:id="rId21"/>
    <p:sldLayoutId id="2147483668" r:id="rId22"/>
    <p:sldLayoutId id="2147483669" r:id="rId23"/>
    <p:sldLayoutId id="2147483684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401" userDrawn="1">
          <p15:clr>
            <a:srgbClr val="5ACBF0"/>
          </p15:clr>
        </p15:guide>
        <p15:guide id="3" pos="279" userDrawn="1">
          <p15:clr>
            <a:srgbClr val="5ACBF0"/>
          </p15:clr>
        </p15:guide>
        <p15:guide id="4" pos="2740" userDrawn="1">
          <p15:clr>
            <a:srgbClr val="5ACBF0"/>
          </p15:clr>
        </p15:guide>
        <p15:guide id="5" pos="2479" userDrawn="1">
          <p15:clr>
            <a:srgbClr val="5ACBF0"/>
          </p15:clr>
        </p15:guide>
        <p15:guide id="6" pos="3704" userDrawn="1">
          <p15:clr>
            <a:srgbClr val="5ACBF0"/>
          </p15:clr>
        </p15:guide>
        <p15:guide id="7" pos="3976" userDrawn="1">
          <p15:clr>
            <a:srgbClr val="5ACBF0"/>
          </p15:clr>
        </p15:guide>
        <p15:guide id="8" pos="4938" userDrawn="1">
          <p15:clr>
            <a:srgbClr val="5ACBF0"/>
          </p15:clr>
        </p15:guide>
        <p15:guide id="9" pos="5201" userDrawn="1">
          <p15:clr>
            <a:srgbClr val="5ACBF0"/>
          </p15:clr>
        </p15:guide>
        <p15:guide id="10" orient="horz" pos="981" userDrawn="1">
          <p15:clr>
            <a:srgbClr val="5ACBF0"/>
          </p15:clr>
        </p15:guide>
        <p15:guide id="11" orient="horz" pos="595" userDrawn="1">
          <p15:clr>
            <a:srgbClr val="5ACBF0"/>
          </p15:clr>
        </p15:guide>
        <p15:guide id="12" orient="horz" pos="278" userDrawn="1">
          <p15:clr>
            <a:srgbClr val="5ACBF0"/>
          </p15:clr>
        </p15:guide>
        <p15:guide id="13" orient="horz" pos="4110" userDrawn="1">
          <p15:clr>
            <a:srgbClr val="5ACBF0"/>
          </p15:clr>
        </p15:guide>
        <p15:guide id="14" orient="horz" pos="1071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9B646D-93E7-6362-88DC-B0BAF16B7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latin typeface="メイリオ"/>
                <a:ea typeface="メイリオ"/>
              </a:rPr>
              <a:t>生成AI、はじめました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F3629C-642F-886D-D0BF-1D4B87DD1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メイリオ"/>
                <a:ea typeface="メイリオ"/>
              </a:rPr>
              <a:t>ひとりで複数の事業会社を担当しながら考えたこと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0FE356-D4FD-DDF4-7052-DF12A455BF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600">
                <a:latin typeface="メイリオ"/>
                <a:ea typeface="メイリオ"/>
              </a:rPr>
              <a:t>住友商事株式会社 ｜ 2026年8月20日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264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CD039-19FF-BE4B-0F0F-7F77CA8AD9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>
                <a:solidFill>
                  <a:schemeClr val="bg2"/>
                </a:solidFill>
              </a:rPr>
              <a:t>Thank You.</a:t>
            </a:r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279A28-E307-A608-D59C-B83419B0B5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latin typeface="メイリオ"/>
                <a:ea typeface="メイリオ"/>
              </a:rPr>
              <a:t>ご清聴ありがとうございました。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88993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今日は4つのことをお話しします</a:t>
            </a:r>
            <a:endParaRPr kumimoji="1" lang="ja-JP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9165" y="2183164"/>
            <a:ext cx="2296535" cy="3827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15B5AA"/>
                </a:solidFill>
                <a:latin typeface="メイリオ"/>
                <a:ea typeface="メイリオ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165" y="2642471"/>
            <a:ext cx="2296535" cy="3253425"/>
          </a:xfrm>
          <a:prstGeom prst="roundRect">
            <a:avLst>
              <a:gd name="adj" fmla="val 50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</a:rPr>
              <a:t>なぜ生成AIを</a:t>
            </a:r>
          </a:p>
          <a:p>
            <a:pPr algn="ctr">
              <a:buNone/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</a:rPr>
              <a:t>使い始めたか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83977" y="4269184"/>
            <a:ext cx="497582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19835" y="2183164"/>
            <a:ext cx="2296535" cy="3827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15B5AA"/>
                </a:solidFill>
                <a:latin typeface="メイリオ"/>
                <a:ea typeface="メイリオ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9835" y="2642471"/>
            <a:ext cx="2296535" cy="3253425"/>
          </a:xfrm>
          <a:prstGeom prst="roundRect">
            <a:avLst>
              <a:gd name="adj" fmla="val 50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</a:rPr>
              <a:t>使っている</a:t>
            </a:r>
          </a:p>
          <a:p>
            <a:pPr algn="ctr">
              <a:buNone/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</a:rPr>
              <a:t>道具とスキル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4646" y="4269184"/>
            <a:ext cx="497583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90504" y="2183164"/>
            <a:ext cx="2296535" cy="3827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15B5AA"/>
                </a:solidFill>
                <a:latin typeface="メイリオ"/>
                <a:ea typeface="メイリオ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0504" y="2642471"/>
            <a:ext cx="2296535" cy="3253425"/>
          </a:xfrm>
          <a:prstGeom prst="roundRect">
            <a:avLst>
              <a:gd name="adj" fmla="val 50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</a:rPr>
              <a:t>実際にやっている</a:t>
            </a:r>
          </a:p>
          <a:p>
            <a:pPr algn="ctr">
              <a:buNone/>
            </a:pPr>
            <a:r>
              <a:rPr sz="1800" b="1">
                <a:solidFill>
                  <a:srgbClr val="000000"/>
                </a:solidFill>
                <a:latin typeface="メイリオ"/>
                <a:ea typeface="メイリオ"/>
              </a:rPr>
              <a:t>自動化の例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25316" y="4269184"/>
            <a:ext cx="497582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61174" y="2183164"/>
            <a:ext cx="2296535" cy="3827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15B5AA"/>
                </a:solidFill>
                <a:latin typeface="メイリオ"/>
                <a:ea typeface="メイリオ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1174" y="2642471"/>
            <a:ext cx="2296535" cy="3253425"/>
          </a:xfrm>
          <a:prstGeom prst="roundRect">
            <a:avLst>
              <a:gd name="adj" fmla="val 5000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これから</a:t>
            </a:r>
          </a:p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大事にしたいこと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きっかけは、担当する会社が増えたことだった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010923"/>
            <a:ext cx="1531023" cy="861200"/>
          </a:xfrm>
          <a:prstGeom prst="roundRect">
            <a:avLst>
              <a:gd name="adj" fmla="val 888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状況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1567" y="2010923"/>
            <a:ext cx="9186142" cy="861200"/>
          </a:xfrm>
          <a:prstGeom prst="roundRect">
            <a:avLst>
              <a:gd name="adj" fmla="val 8888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複数の事業会社を一人で担当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165" y="3063502"/>
            <a:ext cx="1531023" cy="861200"/>
          </a:xfrm>
          <a:prstGeom prst="roundRect">
            <a:avLst>
              <a:gd name="adj" fmla="val 888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課題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1567" y="3063502"/>
            <a:ext cx="9186142" cy="861200"/>
          </a:xfrm>
          <a:prstGeom prst="roundRect">
            <a:avLst>
              <a:gd name="adj" fmla="val 8888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一社ごとに十分な時間をかけられない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165" y="4116081"/>
            <a:ext cx="1531023" cy="861200"/>
          </a:xfrm>
          <a:prstGeom prst="roundRect">
            <a:avLst>
              <a:gd name="adj" fmla="val 888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気づき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1567" y="4116081"/>
            <a:ext cx="9186142" cy="861200"/>
          </a:xfrm>
          <a:prstGeom prst="roundRect">
            <a:avLst>
              <a:gd name="adj" fmla="val 8888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棚卸しすると、毎月同じような仕事が多い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165" y="5168660"/>
            <a:ext cx="1531023" cy="861200"/>
          </a:xfrm>
          <a:prstGeom prst="roundRect">
            <a:avLst>
              <a:gd name="adj" fmla="val 888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方針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1567" y="5168660"/>
            <a:ext cx="9186142" cy="861200"/>
          </a:xfrm>
          <a:prstGeom prst="roundRect">
            <a:avLst>
              <a:gd name="adj" fmla="val 8888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効率化できる部分はデジタルの力に任せる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生成AIは月3,000円台のプランを3つ使っている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202301"/>
            <a:ext cx="3444803" cy="3253425"/>
          </a:xfrm>
          <a:prstGeom prst="roundRect">
            <a:avLst>
              <a:gd name="adj" fmla="val 4117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200" b="1">
                <a:solidFill>
                  <a:srgbClr val="15B5AA"/>
                </a:solidFill>
                <a:latin typeface="メイリオ"/>
                <a:ea typeface="メイリオ"/>
              </a:rPr>
              <a:t>Claude</a:t>
            </a: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月3,000円台のプラン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036" y="2202301"/>
            <a:ext cx="3444803" cy="3253425"/>
          </a:xfrm>
          <a:prstGeom prst="roundRect">
            <a:avLst>
              <a:gd name="adj" fmla="val 4117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200" b="1">
                <a:solidFill>
                  <a:srgbClr val="15B5AA"/>
                </a:solidFill>
                <a:latin typeface="メイリオ"/>
                <a:ea typeface="メイリオ"/>
              </a:rPr>
              <a:t>ChatGPT</a:t>
            </a: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月3,000円台のプラン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2906" y="2202301"/>
            <a:ext cx="3444803" cy="3253425"/>
          </a:xfrm>
          <a:prstGeom prst="roundRect">
            <a:avLst>
              <a:gd name="adj" fmla="val 4117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200" b="1">
                <a:solidFill>
                  <a:srgbClr val="15B5AA"/>
                </a:solidFill>
                <a:latin typeface="メイリオ"/>
                <a:ea typeface="メイリオ"/>
              </a:rPr>
              <a:t>Gemini</a:t>
            </a: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月3,000円台のプラン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165" y="5694949"/>
            <a:ext cx="10908544" cy="42103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1600" b="0">
                <a:solidFill>
                  <a:srgbClr val="5D6B78"/>
                </a:solidFill>
                <a:latin typeface="メイリオ"/>
                <a:ea typeface="メイリオ"/>
              </a:rPr>
              <a:t>いずれも上位の高額プランは使っていない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プログラミングの基礎が、生成AI活用の土台になった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010923"/>
            <a:ext cx="5167205" cy="669822"/>
          </a:xfrm>
          <a:prstGeom prst="roundRect">
            <a:avLst>
              <a:gd name="adj" fmla="val 1142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これまで触ってきたもの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165" y="2872124"/>
            <a:ext cx="5167205" cy="1339645"/>
          </a:xfrm>
          <a:prstGeom prst="roundRect">
            <a:avLst>
              <a:gd name="adj" fmla="val 5714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Python、SQL、Rを少しずつ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165" y="4403148"/>
            <a:ext cx="5167205" cy="1339645"/>
          </a:xfrm>
          <a:prstGeom prst="roundRect">
            <a:avLst>
              <a:gd name="adj" fmla="val 5714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ターミナル操作、Excelマクロ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3438" y="1915234"/>
            <a:ext cx="0" cy="4210316"/>
          </a:xfrm>
          <a:prstGeom prst="line">
            <a:avLst/>
          </a:prstGeom>
          <a:ln w="254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90504" y="2010923"/>
            <a:ext cx="5167205" cy="669822"/>
          </a:xfrm>
          <a:prstGeom prst="roundRect">
            <a:avLst>
              <a:gd name="adj" fmla="val 1142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今につながる考え方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0504" y="2872124"/>
            <a:ext cx="5167205" cy="1339645"/>
          </a:xfrm>
          <a:prstGeom prst="roundRect">
            <a:avLst>
              <a:gd name="adj" fmla="val 5714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定型作業はプログラムに任せた方が早い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0504" y="4403148"/>
            <a:ext cx="5167205" cy="1339645"/>
          </a:xfrm>
          <a:prstGeom prst="roundRect">
            <a:avLst>
              <a:gd name="adj" fmla="val 5714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その延長線上で生成AIを使っている感覚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ツールを自分で作る選択肢が、コストと時間を大幅に削減した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393679"/>
            <a:ext cx="3444803" cy="3253425"/>
          </a:xfrm>
          <a:prstGeom prst="roundRect">
            <a:avLst>
              <a:gd name="adj" fmla="val 4117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15B5AA"/>
                </a:solidFill>
                <a:latin typeface="メイリオ"/>
                <a:ea typeface="メイリオ"/>
              </a:rPr>
              <a:t>タスク管理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自分用のシンプルな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ツールを自作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036" y="2393679"/>
            <a:ext cx="3444803" cy="3253425"/>
          </a:xfrm>
          <a:prstGeom prst="roundRect">
            <a:avLst>
              <a:gd name="adj" fmla="val 4117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15B5AA"/>
                </a:solidFill>
                <a:latin typeface="メイリオ"/>
                <a:ea typeface="メイリオ"/>
              </a:rPr>
              <a:t>BIツール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担当5社のバラバラな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業績フォーマットを一元管理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2906" y="2393679"/>
            <a:ext cx="3444803" cy="3253425"/>
          </a:xfrm>
          <a:prstGeom prst="roundRect">
            <a:avLst>
              <a:gd name="adj" fmla="val 4117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15B5AA"/>
                </a:solidFill>
                <a:latin typeface="メイリオ"/>
                <a:ea typeface="メイリオ"/>
              </a:rPr>
              <a:t>子会社のHP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外注なら約100万円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自分で制作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毎日のニュース配信を自動化し、月100分を取り戻した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1018734" y="1885948"/>
            <a:ext cx="2854570" cy="1427285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15B5AA"/>
                </a:solidFill>
                <a:latin typeface="メイリオ"/>
                <a:ea typeface="メイリオ"/>
              </a:rPr>
              <a:t>①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朝7時に自動で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ニュースを取得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08986" y="2599591"/>
            <a:ext cx="463868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86947" y="1885948"/>
            <a:ext cx="2854570" cy="1427285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15B5AA"/>
                </a:solidFill>
                <a:latin typeface="メイリオ"/>
                <a:ea typeface="メイリオ"/>
              </a:rPr>
              <a:t>②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Boxに保存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77199" y="2599591"/>
            <a:ext cx="463867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55159" y="1885948"/>
            <a:ext cx="2854570" cy="1427285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15B5AA"/>
                </a:solidFill>
                <a:latin typeface="メイリオ"/>
                <a:ea typeface="メイリオ"/>
              </a:rPr>
              <a:t>③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メールで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自動送信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734" y="3491644"/>
            <a:ext cx="10169405" cy="392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1600" b="0">
                <a:solidFill>
                  <a:srgbClr val="5D6B78"/>
                </a:solidFill>
                <a:latin typeface="メイリオ"/>
                <a:ea typeface="メイリオ"/>
              </a:rPr>
              <a:t>課題：忘れる日がある、休みの日は届かない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18734" y="4009035"/>
            <a:ext cx="10169406" cy="0"/>
          </a:xfrm>
          <a:prstGeom prst="line">
            <a:avLst/>
          </a:prstGeom>
          <a:ln w="254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35224" y="4223127"/>
            <a:ext cx="7136425" cy="2051722"/>
          </a:xfrm>
          <a:prstGeom prst="roundRect">
            <a:avLst>
              <a:gd name="adj" fmla="val 6956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3000" b="1">
                <a:solidFill>
                  <a:srgbClr val="FFFFFF"/>
                </a:solidFill>
                <a:latin typeface="メイリオ"/>
                <a:ea typeface="メイリオ"/>
              </a:rPr>
              <a:t>月100分（約1.5時間）削減</a:t>
            </a:r>
          </a:p>
          <a:p>
            <a:pPr algn="ctr">
              <a:buNone/>
            </a:pPr>
            <a:r>
              <a:rPr sz="1800" b="0">
                <a:solidFill>
                  <a:srgbClr val="FFFFFF"/>
                </a:solidFill>
                <a:latin typeface="メイリオ"/>
                <a:ea typeface="メイリオ"/>
              </a:rPr>
              <a:t>自動化で「忘れ」「届かない日」がゼロに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自動化は仕事だけでなく、暮らしにも広がっている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010923"/>
            <a:ext cx="5167205" cy="669822"/>
          </a:xfrm>
          <a:prstGeom prst="roundRect">
            <a:avLst>
              <a:gd name="adj" fmla="val 1142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仕事での自動化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165" y="2872124"/>
            <a:ext cx="5167205" cy="1339645"/>
          </a:xfrm>
          <a:prstGeom prst="roundRect">
            <a:avLst>
              <a:gd name="adj" fmla="val 5714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生成AI関連ニュースをXから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自動収集しSlackへ通知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165" y="4403148"/>
            <a:ext cx="5167205" cy="956889"/>
          </a:xfrm>
          <a:prstGeom prst="roundRect">
            <a:avLst>
              <a:gd name="adj" fmla="val 80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0">
                <a:solidFill>
                  <a:srgbClr val="5D6B78"/>
                </a:solidFill>
                <a:latin typeface="メイリオ"/>
                <a:ea typeface="メイリオ"/>
              </a:rPr>
              <a:t>精度はまだ発展途上、少しずつ改善中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3438" y="1915234"/>
            <a:ext cx="0" cy="4210316"/>
          </a:xfrm>
          <a:prstGeom prst="line">
            <a:avLst/>
          </a:prstGeom>
          <a:ln w="254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90504" y="2010923"/>
            <a:ext cx="5167205" cy="669822"/>
          </a:xfrm>
          <a:prstGeom prst="roundRect">
            <a:avLst>
              <a:gd name="adj" fmla="val 1142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暮らしでの自動化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0504" y="2872124"/>
            <a:ext cx="5167205" cy="1339645"/>
          </a:xfrm>
          <a:prstGeom prst="roundRect">
            <a:avLst>
              <a:gd name="adj" fmla="val 5714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子どもの英語教室の</a:t>
            </a:r>
          </a:p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予約枠を自動で確保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0504" y="4403148"/>
            <a:ext cx="5167205" cy="956889"/>
          </a:xfrm>
          <a:prstGeom prst="roundRect">
            <a:avLst>
              <a:gd name="adj" fmla="val 80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0">
                <a:solidFill>
                  <a:srgbClr val="5D6B78"/>
                </a:solidFill>
                <a:latin typeface="メイリオ"/>
                <a:ea typeface="メイリオ"/>
              </a:rPr>
              <a:t>日曜21時に受付開始、争奪戦になる人気枠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弱みはAIに任せ、強みは自分で担う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1915234"/>
            <a:ext cx="5167205" cy="669822"/>
          </a:xfrm>
          <a:prstGeom prst="roundRect">
            <a:avLst>
              <a:gd name="adj" fmla="val 1142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AIに任せること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165" y="2776435"/>
            <a:ext cx="5167205" cy="1913779"/>
          </a:xfrm>
          <a:prstGeom prst="roundRect">
            <a:avLst>
              <a:gd name="adj" fmla="val 4000"/>
            </a:avLst>
          </a:prstGeom>
          <a:solidFill>
            <a:srgbClr val="EFF5F5"/>
          </a:solidFill>
          <a:ln w="127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イラストやデザインは</a:t>
            </a: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生成AIに任せる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03438" y="1819545"/>
            <a:ext cx="0" cy="3684026"/>
          </a:xfrm>
          <a:prstGeom prst="line">
            <a:avLst/>
          </a:prstGeom>
          <a:ln w="254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90504" y="1915234"/>
            <a:ext cx="5167205" cy="669822"/>
          </a:xfrm>
          <a:prstGeom prst="roundRect">
            <a:avLst>
              <a:gd name="adj" fmla="val 11428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自分がやること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0504" y="2776435"/>
            <a:ext cx="5167205" cy="1913779"/>
          </a:xfrm>
          <a:prstGeom prst="roundRect">
            <a:avLst>
              <a:gd name="adj" fmla="val 4000"/>
            </a:avLst>
          </a:prstGeom>
          <a:solidFill>
            <a:srgbClr val="EFF5F5"/>
          </a:solidFill>
          <a:ln w="127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人とのコミュニケーションや</a:t>
            </a: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判断は自分がやる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165" y="5551416"/>
            <a:ext cx="10908544" cy="669822"/>
          </a:xfrm>
          <a:prstGeom prst="roundRect">
            <a:avLst>
              <a:gd name="adj" fmla="val 11428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0">
                <a:solidFill>
                  <a:srgbClr val="000000"/>
                </a:solidFill>
                <a:latin typeface="メイリオ"/>
                <a:ea typeface="メイリオ"/>
              </a:rPr>
              <a:t>できるところはどんどんテクノロジーに渡す、最終チェックは自分で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怖がらずに、まず使ってみることが大切だ</a:t>
            </a:r>
            <a:endParaRPr kumimoji="1" lang="ja-JP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40543" y="1915234"/>
            <a:ext cx="10525788" cy="4784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1800" b="0">
                <a:solidFill>
                  <a:srgbClr val="5D6B78"/>
                </a:solidFill>
                <a:latin typeface="メイリオ"/>
                <a:ea typeface="メイリオ"/>
              </a:rPr>
              <a:t>生成AIの利用経験率（2026年2月調査、前年29.0%から増加）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5878" y="2585057"/>
            <a:ext cx="7655118" cy="2487913"/>
          </a:xfrm>
          <a:prstGeom prst="roundRect">
            <a:avLst>
              <a:gd name="adj" fmla="val 6153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7200" b="1">
                <a:solidFill>
                  <a:srgbClr val="FFFFFF"/>
                </a:solidFill>
                <a:latin typeface="メイリオ"/>
                <a:ea typeface="メイリオ"/>
              </a:rPr>
              <a:t>54.7%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4677" y="5360038"/>
            <a:ext cx="9377520" cy="765511"/>
          </a:xfrm>
          <a:prstGeom prst="roundRect">
            <a:avLst>
              <a:gd name="adj" fmla="val 12500"/>
            </a:avLst>
          </a:prstGeom>
          <a:solidFill>
            <a:srgbClr val="EFF5F5"/>
          </a:solidFill>
          <a:ln w="1905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000000"/>
                </a:solidFill>
                <a:latin typeface="メイリオ"/>
                <a:ea typeface="メイリオ"/>
              </a:rPr>
              <a:t>怖がらずに、小さいことから使ってみる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260423-3">
      <a:dk1>
        <a:srgbClr val="000000"/>
      </a:dk1>
      <a:lt1>
        <a:srgbClr val="FFFFFF"/>
      </a:lt1>
      <a:dk2>
        <a:srgbClr val="15B5AA"/>
      </a:dk2>
      <a:lt2>
        <a:srgbClr val="EFF5F5"/>
      </a:lt2>
      <a:accent1>
        <a:srgbClr val="88DBDF"/>
      </a:accent1>
      <a:accent2>
        <a:srgbClr val="7392F5"/>
      </a:accent2>
      <a:accent3>
        <a:srgbClr val="8557A7"/>
      </a:accent3>
      <a:accent4>
        <a:srgbClr val="96DC00"/>
      </a:accent4>
      <a:accent5>
        <a:srgbClr val="FF5A41"/>
      </a:accent5>
      <a:accent6>
        <a:srgbClr val="FFB41E"/>
      </a:accent6>
      <a:hlink>
        <a:srgbClr val="0000FF"/>
      </a:hlink>
      <a:folHlink>
        <a:srgbClr val="808080"/>
      </a:folHlink>
    </a:clrScheme>
    <a:fontScheme name="SC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daa-000d-422d-bde1-eff39c95bf07" xsi:nil="true"/>
    <lcf76f155ced4ddcb4097134ff3c332f xmlns="f189842b-e865-488f-969f-10c1c73f716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5E05310D6993684DB1378F2B24908695" ma:contentTypeVersion="11" ma:contentTypeDescription="建立新的文件。" ma:contentTypeScope="" ma:versionID="c1261ca1ef1dafae7212448d8b4095e9">
  <xsd:schema xmlns:xsd="http://www.w3.org/2001/XMLSchema" xmlns:xs="http://www.w3.org/2001/XMLSchema" xmlns:p="http://schemas.microsoft.com/office/2006/metadata/properties" xmlns:ns2="f189842b-e865-488f-969f-10c1c73f716f" xmlns:ns3="bbbe7daa-000d-422d-bde1-eff39c95bf07" targetNamespace="http://schemas.microsoft.com/office/2006/metadata/properties" ma:root="true" ma:fieldsID="56e498f4bd76a7a142ddbfbc30f20c52" ns2:_="" ns3:_="">
    <xsd:import namespace="f189842b-e865-488f-969f-10c1c73f716f"/>
    <xsd:import namespace="bbbe7daa-000d-422d-bde1-eff39c95bf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89842b-e865-488f-969f-10c1c73f71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影像標籤" ma:readOnly="false" ma:fieldId="{5cf76f15-5ced-4ddc-b409-7134ff3c332f}" ma:taxonomyMulti="true" ma:sspId="dda2d156-885c-4512-95ec-3fbd319f15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daa-000d-422d-bde1-eff39c95bf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7f8281d-0886-4280-8c68-2c7d337f2c25}" ma:internalName="TaxCatchAll" ma:showField="CatchAllData" ma:web="bbbe7daa-000d-422d-bde1-eff39c95bf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A90F8-11DB-49DC-B017-07A6CCA87D4C}">
  <ds:schemaRefs>
    <ds:schemaRef ds:uri="bbbe7daa-000d-422d-bde1-eff39c95bf07"/>
    <ds:schemaRef ds:uri="f189842b-e865-488f-969f-10c1c73f716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A4367EE-B147-497A-A7EF-FB5F746983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6476C6-1089-4E47-AFA2-FF2BA0BAE0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89842b-e865-488f-969f-10c1c73f716f"/>
    <ds:schemaRef ds:uri="bbbe7daa-000d-422d-bde1-eff39c95bf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ワイド画面</PresentationFormat>
  <Paragraphs>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Meiryo UI</vt:lpstr>
      <vt:lpstr>メイリオ</vt:lpstr>
      <vt:lpstr>游ゴシック</vt:lpstr>
      <vt:lpstr>Arial</vt:lpstr>
      <vt:lpstr>Office テーマ</vt:lpstr>
      <vt:lpstr>プレゼンテーションタイトル</vt:lpstr>
      <vt:lpstr>Contents</vt:lpstr>
      <vt:lpstr>PowerPoint プレゼンテーション</vt:lpstr>
      <vt:lpstr>PowerPoint プレゼンテーション</vt:lpstr>
      <vt:lpstr>PowerPoint プレゼンテーション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2026-05-28T07:02:05Z</dcterms:created>
  <dcterms:modified xsi:type="dcterms:W3CDTF">2026-06-23T13:20:05Z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0x0101005E05310D6993684DB1378F2B24908695</vt:lpwstr>
  </property>
  <property fmtid="{D5CDD505-2E9C-101B-9397-08002B2CF9AE}" pid="3" name="MediaServiceImageTags">
    <vt:lpwstr/>
  </property>
  <property fmtid="{D5CDD505-2E9C-101B-9397-08002B2CF9AE}" pid="4" name="MSIP_Label_454acede-ec1b-4e45-85bd-5642035cb179_Enabled">
    <vt:lpwstr>true</vt:lpwstr>
  </property>
  <property fmtid="{D5CDD505-2E9C-101B-9397-08002B2CF9AE}" pid="5" name="MSIP_Label_454acede-ec1b-4e45-85bd-5642035cb179_SetDate">
    <vt:lpwstr>2026-06-03T00:53:54Z</vt:lpwstr>
  </property>
  <property fmtid="{D5CDD505-2E9C-101B-9397-08002B2CF9AE}" pid="6" name="MSIP_Label_454acede-ec1b-4e45-85bd-5642035cb179_Method">
    <vt:lpwstr>Standard</vt:lpwstr>
  </property>
  <property fmtid="{D5CDD505-2E9C-101B-9397-08002B2CF9AE}" pid="7" name="MSIP_Label_454acede-ec1b-4e45-85bd-5642035cb179_Name">
    <vt:lpwstr>Default</vt:lpwstr>
  </property>
  <property fmtid="{D5CDD505-2E9C-101B-9397-08002B2CF9AE}" pid="8" name="MSIP_Label_454acede-ec1b-4e45-85bd-5642035cb179_SiteId">
    <vt:lpwstr>43add221-db5c-489b-8198-44240765b4f3</vt:lpwstr>
  </property>
  <property fmtid="{D5CDD505-2E9C-101B-9397-08002B2CF9AE}" pid="9" name="MSIP_Label_454acede-ec1b-4e45-85bd-5642035cb179_ActionId">
    <vt:lpwstr>e43f3403-bb81-45e9-a410-9bfd09813c6b</vt:lpwstr>
  </property>
  <property fmtid="{D5CDD505-2E9C-101B-9397-08002B2CF9AE}" pid="10" name="MSIP_Label_454acede-ec1b-4e45-85bd-5642035cb179_ContentBits">
    <vt:lpwstr>0</vt:lpwstr>
  </property>
  <property fmtid="{D5CDD505-2E9C-101B-9397-08002B2CF9AE}" pid="11" name="MSIP_Label_454acede-ec1b-4e45-85bd-5642035cb179_Tag">
    <vt:lpwstr>10, 3, 0, 2</vt:lpwstr>
  </property>
  <property fmtid="{D5CDD505-2E9C-101B-9397-08002B2CF9AE}" pid="12" name="MSIP_Label_defa4170-0d19-0005-0004-bc88714345d2_Enabled">
    <vt:lpwstr>true</vt:lpwstr>
  </property>
  <property fmtid="{D5CDD505-2E9C-101B-9397-08002B2CF9AE}" pid="13" name="MSIP_Label_defa4170-0d19-0005-0004-bc88714345d2_SetDate">
    <vt:lpwstr>2026-06-09T03:33:49Z</vt:lpwstr>
  </property>
  <property fmtid="{D5CDD505-2E9C-101B-9397-08002B2CF9AE}" pid="14" name="MSIP_Label_defa4170-0d19-0005-0004-bc88714345d2_Method">
    <vt:lpwstr>Standard</vt:lpwstr>
  </property>
  <property fmtid="{D5CDD505-2E9C-101B-9397-08002B2CF9AE}" pid="15" name="MSIP_Label_defa4170-0d19-0005-0004-bc88714345d2_Name">
    <vt:lpwstr>defa4170-0d19-0005-0004-bc88714345d2</vt:lpwstr>
  </property>
  <property fmtid="{D5CDD505-2E9C-101B-9397-08002B2CF9AE}" pid="16" name="MSIP_Label_defa4170-0d19-0005-0004-bc88714345d2_SiteId">
    <vt:lpwstr>a36cb9fe-fcfb-4dde-a7fc-b4ebca10f1f0</vt:lpwstr>
  </property>
  <property fmtid="{D5CDD505-2E9C-101B-9397-08002B2CF9AE}" pid="17" name="MSIP_Label_defa4170-0d19-0005-0004-bc88714345d2_ActionId">
    <vt:lpwstr>78d687a1-6c09-4036-8870-7a027dc47063</vt:lpwstr>
  </property>
  <property fmtid="{D5CDD505-2E9C-101B-9397-08002B2CF9AE}" pid="18" name="MSIP_Label_defa4170-0d19-0005-0004-bc88714345d2_ContentBits">
    <vt:lpwstr>0</vt:lpwstr>
  </property>
  <property fmtid="{D5CDD505-2E9C-101B-9397-08002B2CF9AE}" pid="19" name="MSIP_Label_defa4170-0d19-0005-0004-bc88714345d2_Tag">
    <vt:lpwstr>10, 3, 0, 1</vt:lpwstr>
  </property>
</Properties>
</file>