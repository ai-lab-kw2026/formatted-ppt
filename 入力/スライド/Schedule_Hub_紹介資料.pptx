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Product facts and workflow: CURRENT_HANDOFF.md (2026-08-23), sections 1–4.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Product architecture: CURRENT_HANDOFF.md (2026-08-23), sections 2–7 and TimeTree implementation details.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Example derived from supported LINE announcement parsing documented in CURRENT_HANDOFF.md, section 4. Names/date are illustrative.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角丸四角形 38">
            <a:extLst>
              <a:ext uri="{FF2B5EF4-FFF2-40B4-BE49-F238E27FC236}">
                <a16:creationId xmlns:a16="http://schemas.microsoft.com/office/drawing/2014/main" id="{5C910605-1F2A-4642-8667-C6E62F09DD99}"/>
              </a:ext>
            </a:extLst>
          </p:cNvPr>
          <p:cNvSpPr>
            <a:spLocks noGrp="1"/>
          </p:cNvSpPr>
          <p:nvPr/>
        </p:nvSpPr>
        <p:spPr>
          <a:xfrm>
            <a:off x="533400" y="476250"/>
            <a:ext cx="1504950" cy="266700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2D763CC-6791-4A17-9203-F6965BA5AE2F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なぜ作ったのか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3CED3E2-B2B5-4814-BE22-DC9E186D68EA}"/>
              </a:ext>
            </a:extLst>
          </p:cNvPr>
          <p:cNvSpPr>
            <a:spLocks noGrp="1"/>
          </p:cNvSpPr>
          <p:nvPr/>
        </p:nvSpPr>
        <p:spPr>
          <a:xfrm>
            <a:off x="533400" y="971550"/>
            <a:ext cx="8763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予定は、いろいろな場所に散らばっていた。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50B6C8B-6AC6-4D9C-B43F-F60C44EA44D1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617184"/>
                </a:solidFill>
              </a:defRPr>
            </a:pPr>
            <a:r>
              <a:rPr sz="1575" b="0">
                <a:solidFill>
                  <a:srgbClr val="617184"/>
                </a:solidFill>
              </a:rPr>
              <a:t>家族の予定を一つに把握できず、気づいたときには当日を迎えてしまう。</a:t>
            </a:r>
          </a:p>
        </p:txBody>
      </p: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8CFC99A8-5421-4F59-99A0-D73932B3AB77}"/>
              </a:ext>
            </a:extLst>
          </p:cNvPr>
          <p:cNvSpPr>
            <a:spLocks noGrp="1"/>
          </p:cNvSpPr>
          <p:nvPr/>
        </p:nvSpPr>
        <p:spPr>
          <a:xfrm>
            <a:off x="8001000" y="2571750"/>
            <a:ext cx="2895600" cy="2305050"/>
          </a:xfrm>
          <a:prstGeom prst="roundRect">
            <a:avLst>
              <a:gd name="adj" fmla="val 6612"/>
            </a:avLst>
          </a:prstGeom>
          <a:solidFill>
            <a:srgbClr val="EAF3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DAFCB082-E8E9-4C1D-AE68-BD47C35A5E65}"/>
              </a:ext>
            </a:extLst>
          </p:cNvPr>
          <p:cNvSpPr>
            <a:spLocks noGrp="1"/>
          </p:cNvSpPr>
          <p:nvPr/>
        </p:nvSpPr>
        <p:spPr>
          <a:xfrm>
            <a:off x="666750" y="2571750"/>
            <a:ext cx="2095500" cy="723900"/>
          </a:xfrm>
          <a:prstGeom prst="roundRect">
            <a:avLst>
              <a:gd name="adj" fmla="val 15789"/>
            </a:avLst>
          </a:prstGeom>
          <a:solidFill>
            <a:srgbClr val="F7F9FC"/>
          </a:solidFill>
          <a:ln w="9525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0E68BB0C-7800-4C83-9C81-691F5FA235E8}"/>
              </a:ext>
            </a:extLst>
          </p:cNvPr>
          <p:cNvSpPr>
            <a:spLocks noGrp="1"/>
          </p:cNvSpPr>
          <p:nvPr/>
        </p:nvSpPr>
        <p:spPr>
          <a:xfrm>
            <a:off x="666750" y="3543300"/>
            <a:ext cx="2095500" cy="723900"/>
          </a:xfrm>
          <a:prstGeom prst="roundRect">
            <a:avLst>
              <a:gd name="adj" fmla="val 15789"/>
            </a:avLst>
          </a:prstGeom>
          <a:solidFill>
            <a:srgbClr val="F7F9FC"/>
          </a:solidFill>
          <a:ln w="9525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430679A9-DE23-46ED-A39F-5303BBF6D8E7}"/>
              </a:ext>
            </a:extLst>
          </p:cNvPr>
          <p:cNvSpPr>
            <a:spLocks noGrp="1"/>
          </p:cNvSpPr>
          <p:nvPr/>
        </p:nvSpPr>
        <p:spPr>
          <a:xfrm>
            <a:off x="3429000" y="2571750"/>
            <a:ext cx="2095500" cy="723900"/>
          </a:xfrm>
          <a:prstGeom prst="roundRect">
            <a:avLst>
              <a:gd name="adj" fmla="val 15789"/>
            </a:avLst>
          </a:prstGeom>
          <a:solidFill>
            <a:srgbClr val="F7F9FC"/>
          </a:solidFill>
          <a:ln w="9525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62B06442-3F31-463C-AA75-2CBFF36B8956}"/>
              </a:ext>
            </a:extLst>
          </p:cNvPr>
          <p:cNvSpPr>
            <a:spLocks noGrp="1"/>
          </p:cNvSpPr>
          <p:nvPr/>
        </p:nvSpPr>
        <p:spPr>
          <a:xfrm>
            <a:off x="3429000" y="3543300"/>
            <a:ext cx="2095500" cy="723900"/>
          </a:xfrm>
          <a:prstGeom prst="roundRect">
            <a:avLst>
              <a:gd name="adj" fmla="val 15789"/>
            </a:avLst>
          </a:prstGeom>
          <a:solidFill>
            <a:srgbClr val="F7F9FC"/>
          </a:solidFill>
          <a:ln w="9525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52EFF6AD-9B6F-47B2-BC93-CDD9909C4BEB}"/>
              </a:ext>
            </a:extLst>
          </p:cNvPr>
          <p:cNvSpPr>
            <a:spLocks noGrp="1"/>
          </p:cNvSpPr>
          <p:nvPr/>
        </p:nvSpPr>
        <p:spPr>
          <a:xfrm>
            <a:off x="6191250" y="2571750"/>
            <a:ext cx="1352550" cy="723900"/>
          </a:xfrm>
          <a:prstGeom prst="roundRect">
            <a:avLst>
              <a:gd name="adj" fmla="val 15789"/>
            </a:avLst>
          </a:prstGeom>
          <a:solidFill>
            <a:srgbClr val="F7F9FC"/>
          </a:solidFill>
          <a:ln w="9525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68893CEC-0030-4387-B148-02F5EDE1CF68}"/>
              </a:ext>
            </a:extLst>
          </p:cNvPr>
          <p:cNvSpPr>
            <a:spLocks noGrp="1"/>
          </p:cNvSpPr>
          <p:nvPr/>
        </p:nvSpPr>
        <p:spPr>
          <a:xfrm>
            <a:off x="6191250" y="3543300"/>
            <a:ext cx="1352550" cy="723900"/>
          </a:xfrm>
          <a:prstGeom prst="roundRect">
            <a:avLst>
              <a:gd name="adj" fmla="val 15789"/>
            </a:avLst>
          </a:prstGeom>
          <a:solidFill>
            <a:srgbClr val="F7F9FC"/>
          </a:solidFill>
          <a:ln w="9525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50" name="直線矢印コネクタ 49"/>
          <p:cNvCxnSpPr>
            <a:stCxn id="6" idx="3"/>
            <a:endCxn id="5" idx="1"/>
          </p:cNvCxnSpPr>
          <p:nvPr/>
        </p:nvCxnSpPr>
        <p:spPr>
          <a:xfrm>
            <a:off x="2762250" y="2933700"/>
            <a:ext cx="5238750" cy="790575"/>
          </a:xfrm>
          <a:prstGeom prst="straightConnector1">
            <a:avLst/>
          </a:prstGeom>
          <a:ln w="19050">
            <a:solidFill>
              <a:srgbClr val="CFD8E3"/>
            </a:solidFill>
            <a:prstDash val="solid"/>
            <a:tailEnd type="arrow" w="sm" len="sm"/>
          </a:ln>
        </p:spPr>
      </p:cxnSp>
      <p:cxnSp>
        <p:nvCxnSpPr>
          <p:cNvPr id="51" name="直線矢印コネクタ 50"/>
          <p:cNvCxnSpPr>
            <a:stCxn id="7" idx="3"/>
            <a:endCxn id="5" idx="1"/>
          </p:cNvCxnSpPr>
          <p:nvPr/>
        </p:nvCxnSpPr>
        <p:spPr>
          <a:xfrm flipV="1">
            <a:off x="2762250" y="3724275"/>
            <a:ext cx="5238750" cy="180975"/>
          </a:xfrm>
          <a:prstGeom prst="straightConnector1">
            <a:avLst/>
          </a:prstGeom>
          <a:ln w="19050">
            <a:solidFill>
              <a:srgbClr val="CFD8E3"/>
            </a:solidFill>
            <a:prstDash val="solid"/>
            <a:tailEnd type="arrow" w="sm" len="sm"/>
          </a:ln>
        </p:spPr>
      </p:cxnSp>
      <p:cxnSp>
        <p:nvCxnSpPr>
          <p:cNvPr id="52" name="直線矢印コネクタ 51"/>
          <p:cNvCxnSpPr>
            <a:stCxn id="8" idx="3"/>
            <a:endCxn id="5" idx="1"/>
          </p:cNvCxnSpPr>
          <p:nvPr/>
        </p:nvCxnSpPr>
        <p:spPr>
          <a:xfrm>
            <a:off x="5524500" y="2933700"/>
            <a:ext cx="2476500" cy="790575"/>
          </a:xfrm>
          <a:prstGeom prst="straightConnector1">
            <a:avLst/>
          </a:prstGeom>
          <a:ln w="19050">
            <a:solidFill>
              <a:srgbClr val="CFD8E3"/>
            </a:solidFill>
            <a:prstDash val="solid"/>
            <a:tailEnd type="arrow" w="sm" len="sm"/>
          </a:ln>
        </p:spPr>
      </p:cxnSp>
      <p:cxnSp>
        <p:nvCxnSpPr>
          <p:cNvPr id="53" name="直線矢印コネクタ 52"/>
          <p:cNvCxnSpPr>
            <a:stCxn id="9" idx="3"/>
            <a:endCxn id="5" idx="1"/>
          </p:cNvCxnSpPr>
          <p:nvPr/>
        </p:nvCxnSpPr>
        <p:spPr>
          <a:xfrm flipV="1">
            <a:off x="5524500" y="3724275"/>
            <a:ext cx="2476500" cy="180975"/>
          </a:xfrm>
          <a:prstGeom prst="straightConnector1">
            <a:avLst/>
          </a:prstGeom>
          <a:ln w="19050">
            <a:solidFill>
              <a:srgbClr val="CFD8E3"/>
            </a:solidFill>
            <a:prstDash val="solid"/>
            <a:tailEnd type="arrow" w="sm" len="sm"/>
          </a:ln>
        </p:spPr>
      </p:cxnSp>
      <p:cxnSp>
        <p:nvCxnSpPr>
          <p:cNvPr id="54" name="直線矢印コネクタ 53"/>
          <p:cNvCxnSpPr>
            <a:stCxn id="10" idx="3"/>
            <a:endCxn id="5" idx="1"/>
          </p:cNvCxnSpPr>
          <p:nvPr/>
        </p:nvCxnSpPr>
        <p:spPr>
          <a:xfrm>
            <a:off x="7543800" y="2933700"/>
            <a:ext cx="457200" cy="790575"/>
          </a:xfrm>
          <a:prstGeom prst="straightConnector1">
            <a:avLst/>
          </a:prstGeom>
          <a:ln w="19050">
            <a:solidFill>
              <a:srgbClr val="CFD8E3"/>
            </a:solidFill>
            <a:prstDash val="solid"/>
            <a:tailEnd type="arrow" w="sm" len="sm"/>
          </a:ln>
        </p:spPr>
      </p:cxnSp>
      <p:cxnSp>
        <p:nvCxnSpPr>
          <p:cNvPr id="55" name="直線矢印コネクタ 54"/>
          <p:cNvCxnSpPr>
            <a:stCxn id="11" idx="3"/>
            <a:endCxn id="5" idx="1"/>
          </p:cNvCxnSpPr>
          <p:nvPr/>
        </p:nvCxnSpPr>
        <p:spPr>
          <a:xfrm flipV="1">
            <a:off x="7543800" y="3724275"/>
            <a:ext cx="457200" cy="180975"/>
          </a:xfrm>
          <a:prstGeom prst="straightConnector1">
            <a:avLst/>
          </a:prstGeom>
          <a:ln w="19050">
            <a:solidFill>
              <a:srgbClr val="CFD8E3"/>
            </a:solidFill>
            <a:prstDash val="solid"/>
            <a:tailEnd type="arrow" w="sm" len="sm"/>
          </a:ln>
        </p:spPr>
      </p:cxn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58513ACD-AAAD-47D5-B2E6-21686FA675A9}"/>
              </a:ext>
            </a:extLst>
          </p:cNvPr>
          <p:cNvSpPr>
            <a:spLocks noGrp="1"/>
          </p:cNvSpPr>
          <p:nvPr/>
        </p:nvSpPr>
        <p:spPr>
          <a:xfrm>
            <a:off x="819150" y="2714625"/>
            <a:ext cx="400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0">
                <a:solidFill>
                  <a:srgbClr val="172033"/>
                </a:solidFill>
              </a:defRPr>
            </a:pPr>
            <a:r>
              <a:rPr sz="2100" b="0">
                <a:solidFill>
                  <a:srgbClr val="172033"/>
                </a:solidFill>
              </a:rPr>
              <a:t>💬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2C70BE4-9990-4D18-A117-F26BE9C7DDF9}"/>
              </a:ext>
            </a:extLst>
          </p:cNvPr>
          <p:cNvSpPr>
            <a:spLocks noGrp="1"/>
          </p:cNvSpPr>
          <p:nvPr/>
        </p:nvSpPr>
        <p:spPr>
          <a:xfrm>
            <a:off x="1257300" y="2771775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LINEの連絡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324F5015-2A53-4231-ACDD-D355074B6769}"/>
              </a:ext>
            </a:extLst>
          </p:cNvPr>
          <p:cNvSpPr>
            <a:spLocks noGrp="1"/>
          </p:cNvSpPr>
          <p:nvPr/>
        </p:nvSpPr>
        <p:spPr>
          <a:xfrm>
            <a:off x="819150" y="3686175"/>
            <a:ext cx="400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0">
                <a:solidFill>
                  <a:srgbClr val="172033"/>
                </a:solidFill>
              </a:defRPr>
            </a:pPr>
            <a:r>
              <a:rPr sz="2100" b="0">
                <a:solidFill>
                  <a:srgbClr val="172033"/>
                </a:solidFill>
              </a:rPr>
              <a:t>🎙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9A1FC83-C3C9-4E41-960F-CDED98EB7C53}"/>
              </a:ext>
            </a:extLst>
          </p:cNvPr>
          <p:cNvSpPr>
            <a:spLocks noGrp="1"/>
          </p:cNvSpPr>
          <p:nvPr/>
        </p:nvSpPr>
        <p:spPr>
          <a:xfrm>
            <a:off x="1257300" y="3743325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音声テキスト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8ACC9064-7F3A-4A0D-8114-9C1DB9E1E47B}"/>
              </a:ext>
            </a:extLst>
          </p:cNvPr>
          <p:cNvSpPr>
            <a:spLocks noGrp="1"/>
          </p:cNvSpPr>
          <p:nvPr/>
        </p:nvSpPr>
        <p:spPr>
          <a:xfrm>
            <a:off x="3581400" y="2714625"/>
            <a:ext cx="400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0">
                <a:solidFill>
                  <a:srgbClr val="172033"/>
                </a:solidFill>
              </a:defRPr>
            </a:pPr>
            <a:r>
              <a:rPr sz="2100" b="0">
                <a:solidFill>
                  <a:srgbClr val="172033"/>
                </a:solidFill>
              </a:rPr>
              <a:t>📷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A3E9B86-4BAF-49A3-9FBD-B2271F0263D7}"/>
              </a:ext>
            </a:extLst>
          </p:cNvPr>
          <p:cNvSpPr>
            <a:spLocks noGrp="1"/>
          </p:cNvSpPr>
          <p:nvPr/>
        </p:nvSpPr>
        <p:spPr>
          <a:xfrm>
            <a:off x="4019550" y="2771775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紙カレンダー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D5E65D6D-4872-4E40-92A6-CE9EF4BD21AE}"/>
              </a:ext>
            </a:extLst>
          </p:cNvPr>
          <p:cNvSpPr>
            <a:spLocks noGrp="1"/>
          </p:cNvSpPr>
          <p:nvPr/>
        </p:nvSpPr>
        <p:spPr>
          <a:xfrm>
            <a:off x="3581400" y="3686175"/>
            <a:ext cx="400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0">
                <a:solidFill>
                  <a:srgbClr val="172033"/>
                </a:solidFill>
              </a:defRPr>
            </a:pPr>
            <a:r>
              <a:rPr sz="2100" b="0">
                <a:solidFill>
                  <a:srgbClr val="172033"/>
                </a:solidFill>
              </a:rPr>
              <a:t>📄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F83A6B32-5F63-4D03-B929-48E88BC36EF5}"/>
              </a:ext>
            </a:extLst>
          </p:cNvPr>
          <p:cNvSpPr>
            <a:spLocks noGrp="1"/>
          </p:cNvSpPr>
          <p:nvPr/>
        </p:nvSpPr>
        <p:spPr>
          <a:xfrm>
            <a:off x="4019550" y="3743325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学校PDF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B7A6D221-6190-4D78-A705-1A1CD91E6AB8}"/>
              </a:ext>
            </a:extLst>
          </p:cNvPr>
          <p:cNvSpPr>
            <a:spLocks noGrp="1"/>
          </p:cNvSpPr>
          <p:nvPr/>
        </p:nvSpPr>
        <p:spPr>
          <a:xfrm>
            <a:off x="6419850" y="2714625"/>
            <a:ext cx="400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0">
                <a:solidFill>
                  <a:srgbClr val="172033"/>
                </a:solidFill>
              </a:defRPr>
            </a:pPr>
            <a:r>
              <a:rPr sz="1950" b="0">
                <a:solidFill>
                  <a:srgbClr val="172033"/>
                </a:solidFill>
              </a:rPr>
              <a:t>🌿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C3888713-5C4C-4049-B654-12079F2BBE6D}"/>
              </a:ext>
            </a:extLst>
          </p:cNvPr>
          <p:cNvSpPr>
            <a:spLocks noGrp="1"/>
          </p:cNvSpPr>
          <p:nvPr/>
        </p:nvSpPr>
        <p:spPr>
          <a:xfrm>
            <a:off x="6315075" y="3048000"/>
            <a:ext cx="1104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TimeTree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B0239175-63B2-4AF1-B615-D272E07C1432}"/>
              </a:ext>
            </a:extLst>
          </p:cNvPr>
          <p:cNvSpPr>
            <a:spLocks noGrp="1"/>
          </p:cNvSpPr>
          <p:nvPr/>
        </p:nvSpPr>
        <p:spPr>
          <a:xfrm>
            <a:off x="6419850" y="3695700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0">
                <a:solidFill>
                  <a:srgbClr val="172033"/>
                </a:solidFill>
              </a:defRPr>
            </a:pPr>
            <a:r>
              <a:rPr sz="1950" b="0">
                <a:solidFill>
                  <a:srgbClr val="172033"/>
                </a:solidFill>
              </a:rPr>
              <a:t>◉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C139A837-918C-4BB1-9DE4-CD355017D610}"/>
              </a:ext>
            </a:extLst>
          </p:cNvPr>
          <p:cNvSpPr>
            <a:spLocks noGrp="1"/>
          </p:cNvSpPr>
          <p:nvPr/>
        </p:nvSpPr>
        <p:spPr>
          <a:xfrm>
            <a:off x="6315075" y="4019550"/>
            <a:ext cx="1104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伝助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F45E6158-CA88-484F-A22F-8A871E2ECB78}"/>
              </a:ext>
            </a:extLst>
          </p:cNvPr>
          <p:cNvSpPr>
            <a:spLocks noGrp="1"/>
          </p:cNvSpPr>
          <p:nvPr/>
        </p:nvSpPr>
        <p:spPr>
          <a:xfrm>
            <a:off x="8334375" y="2838450"/>
            <a:ext cx="2247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ひとつに統合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CE133F06-CF4D-4775-8C4D-DA38E5853206}"/>
              </a:ext>
            </a:extLst>
          </p:cNvPr>
          <p:cNvSpPr>
            <a:spLocks noGrp="1"/>
          </p:cNvSpPr>
          <p:nvPr/>
        </p:nvSpPr>
        <p:spPr>
          <a:xfrm>
            <a:off x="8343900" y="3371850"/>
            <a:ext cx="2209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「あとで確認しよう」を</a:t>
            </a:r>
          </a:p>
          <a:p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「予定として見える」へ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EEA06CF9-A7C0-42C3-8486-914F58426916}"/>
              </a:ext>
            </a:extLst>
          </p:cNvPr>
          <p:cNvSpPr>
            <a:spLocks noGrp="1"/>
          </p:cNvSpPr>
          <p:nvPr/>
        </p:nvSpPr>
        <p:spPr>
          <a:xfrm>
            <a:off x="8343900" y="4333875"/>
            <a:ext cx="2209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617184"/>
                </a:solidFill>
              </a:defRPr>
            </a:pPr>
            <a:r>
              <a:rPr sz="1200" b="1">
                <a:solidFill>
                  <a:srgbClr val="617184"/>
                </a:solidFill>
              </a:rPr>
              <a:t>Schedule Hub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E85C40A9-C5AD-4013-A953-59E7272CCB6B}"/>
              </a:ext>
            </a:extLst>
          </p:cNvPr>
          <p:cNvSpPr>
            <a:spLocks noGrp="1"/>
          </p:cNvSpPr>
          <p:nvPr/>
        </p:nvSpPr>
        <p:spPr>
          <a:xfrm>
            <a:off x="533400" y="5353050"/>
            <a:ext cx="11125200" cy="1905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43367561-32C3-4767-9E9F-6C781685FFFA}"/>
              </a:ext>
            </a:extLst>
          </p:cNvPr>
          <p:cNvSpPr>
            <a:spLocks noGrp="1"/>
          </p:cNvSpPr>
          <p:nvPr/>
        </p:nvSpPr>
        <p:spPr>
          <a:xfrm>
            <a:off x="533400" y="56197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目指したこと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468D6042-F150-4DE2-8070-C16C372DABE6}"/>
              </a:ext>
            </a:extLst>
          </p:cNvPr>
          <p:cNvSpPr>
            <a:spLocks noGrp="1"/>
          </p:cNvSpPr>
          <p:nvPr/>
        </p:nvSpPr>
        <p:spPr>
          <a:xfrm>
            <a:off x="2343150" y="5553075"/>
            <a:ext cx="9001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分散した予定情報を自動で整理し、確認したものだけをGoogle Calendarに集約する。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BD1287A8-5C20-4665-A1BE-087B0AFC2F22}"/>
              </a:ext>
            </a:extLst>
          </p:cNvPr>
          <p:cNvSpPr>
            <a:spLocks noGrp="1"/>
          </p:cNvSpPr>
          <p:nvPr/>
        </p:nvSpPr>
        <p:spPr>
          <a:xfrm>
            <a:off x="533400" y="6429375"/>
            <a:ext cx="11125200" cy="9525"/>
          </a:xfrm>
          <a:prstGeom prst="rect">
            <a:avLst/>
          </a:prstGeom>
          <a:solidFill>
            <a:srgbClr val="CFD8E3"/>
          </a:solidFill>
          <a:ln w="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8BED61FF-A841-48D1-9B73-7FA3F5AD79B0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17184"/>
                </a:solidFill>
              </a:defRPr>
            </a:pPr>
            <a:r>
              <a:rPr sz="825" b="1">
                <a:solidFill>
                  <a:srgbClr val="617184"/>
                </a:solidFill>
              </a:rPr>
              <a:t>SCHEDULE HUB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B9073DE0-2112-4680-AEFA-8FE0F933A500}"/>
              </a:ext>
            </a:extLst>
          </p:cNvPr>
          <p:cNvSpPr>
            <a:spLocks noGrp="1"/>
          </p:cNvSpPr>
          <p:nvPr/>
        </p:nvSpPr>
        <p:spPr>
          <a:xfrm>
            <a:off x="10782300" y="654367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0">
                <a:solidFill>
                  <a:srgbClr val="617184"/>
                </a:solidFill>
              </a:defRPr>
            </a:pPr>
            <a:r>
              <a:rPr sz="825" b="0">
                <a:solidFill>
                  <a:srgbClr val="617184"/>
                </a:solidFill>
              </a:rPr>
              <a:t>1 / 3</a:t>
            </a:r>
          </a:p>
        </p:txBody>
      </p:sp>
    </p:spTree>
    <p:extLst>
      <p:ext uri="{BB962C8B-B14F-4D97-AF65-F5344CB8AC3E}">
        <p14:creationId xmlns:p14="http://schemas.microsoft.com/office/powerpoint/2010/main" val="1518366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角丸四角形 36">
            <a:extLst>
              <a:ext uri="{FF2B5EF4-FFF2-40B4-BE49-F238E27FC236}">
                <a16:creationId xmlns:a16="http://schemas.microsoft.com/office/drawing/2014/main" id="{A8FDA2B8-C014-4B88-894F-A8D92ED83285}"/>
              </a:ext>
            </a:extLst>
          </p:cNvPr>
          <p:cNvSpPr>
            <a:spLocks noGrp="1"/>
          </p:cNvSpPr>
          <p:nvPr/>
        </p:nvSpPr>
        <p:spPr>
          <a:xfrm>
            <a:off x="533400" y="476250"/>
            <a:ext cx="8953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87F0EB3-DD38-450E-B646-8A39D500F964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仕組み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8326001-6066-4954-B613-4D0F54A6EA48}"/>
              </a:ext>
            </a:extLst>
          </p:cNvPr>
          <p:cNvSpPr>
            <a:spLocks noGrp="1"/>
          </p:cNvSpPr>
          <p:nvPr/>
        </p:nvSpPr>
        <p:spPr>
          <a:xfrm>
            <a:off x="533400" y="971550"/>
            <a:ext cx="1000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AIで整理し、人が確認してから、Google Calendarへ。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88E9535-DD28-4AAC-AA1F-51A634517519}"/>
              </a:ext>
            </a:extLst>
          </p:cNvPr>
          <p:cNvSpPr>
            <a:spLocks noGrp="1"/>
          </p:cNvSpPr>
          <p:nvPr/>
        </p:nvSpPr>
        <p:spPr>
          <a:xfrm>
            <a:off x="533400" y="1562100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17184"/>
                </a:solidFill>
              </a:defRPr>
            </a:pPr>
            <a:r>
              <a:rPr sz="1500" b="0">
                <a:solidFill>
                  <a:srgbClr val="617184"/>
                </a:solidFill>
              </a:rPr>
              <a:t>Google Calendarを唯一の正本とし、他のツールは「予定を集めるための入力元」として使います。</a:t>
            </a:r>
          </a:p>
        </p:txBody>
      </p: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D6F00AB8-25D9-46C6-8D3A-57F0014C7FBF}"/>
              </a:ext>
            </a:extLst>
          </p:cNvPr>
          <p:cNvSpPr>
            <a:spLocks noGrp="1"/>
          </p:cNvSpPr>
          <p:nvPr/>
        </p:nvSpPr>
        <p:spPr>
          <a:xfrm>
            <a:off x="628650" y="2457450"/>
            <a:ext cx="2209800" cy="2381250"/>
          </a:xfrm>
          <a:prstGeom prst="roundRect">
            <a:avLst>
              <a:gd name="adj" fmla="val 6897"/>
            </a:avLst>
          </a:prstGeom>
          <a:solidFill>
            <a:srgbClr val="F7F9FC"/>
          </a:solidFill>
          <a:ln w="9525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39A91676-4953-43EF-8197-B9E4D127199E}"/>
              </a:ext>
            </a:extLst>
          </p:cNvPr>
          <p:cNvSpPr>
            <a:spLocks noGrp="1"/>
          </p:cNvSpPr>
          <p:nvPr/>
        </p:nvSpPr>
        <p:spPr>
          <a:xfrm>
            <a:off x="3829050" y="2266950"/>
            <a:ext cx="3143250" cy="2762250"/>
          </a:xfrm>
          <a:prstGeom prst="roundRect">
            <a:avLst>
              <a:gd name="adj" fmla="val 5517"/>
            </a:avLst>
          </a:prstGeom>
          <a:solidFill>
            <a:srgbClr val="EAF3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AA75E728-D1E2-4CC7-B235-4CA613989D84}"/>
              </a:ext>
            </a:extLst>
          </p:cNvPr>
          <p:cNvSpPr>
            <a:spLocks noGrp="1"/>
          </p:cNvSpPr>
          <p:nvPr/>
        </p:nvSpPr>
        <p:spPr>
          <a:xfrm>
            <a:off x="8001000" y="2457450"/>
            <a:ext cx="161925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51C025B7-8830-4763-A54A-8331226DA4FE}"/>
              </a:ext>
            </a:extLst>
          </p:cNvPr>
          <p:cNvSpPr>
            <a:spLocks noGrp="1"/>
          </p:cNvSpPr>
          <p:nvPr/>
        </p:nvSpPr>
        <p:spPr>
          <a:xfrm>
            <a:off x="9925050" y="2266950"/>
            <a:ext cx="1638300" cy="2762250"/>
          </a:xfrm>
          <a:prstGeom prst="roundRect">
            <a:avLst>
              <a:gd name="adj" fmla="val 9302"/>
            </a:avLst>
          </a:prstGeom>
          <a:solidFill>
            <a:srgbClr val="EAF8F1"/>
          </a:solidFill>
          <a:ln w="19050">
            <a:solidFill>
              <a:srgbClr val="1680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45" name="直線矢印コネクタ 44"/>
          <p:cNvCxnSpPr>
            <a:stCxn id="5" idx="3"/>
            <a:endCxn id="6" idx="1"/>
          </p:cNvCxnSpPr>
          <p:nvPr/>
        </p:nvCxnSpPr>
        <p:spPr>
          <a:xfrm>
            <a:off x="2838450" y="3648075"/>
            <a:ext cx="990600" cy="0"/>
          </a:xfrm>
          <a:prstGeom prst="straightConnector1">
            <a:avLst/>
          </a:prstGeom>
          <a:ln w="28575">
            <a:solidFill>
              <a:srgbClr val="2563EB"/>
            </a:solidFill>
            <a:prstDash val="solid"/>
            <a:tailEnd type="arrow" w="med" len="med"/>
          </a:ln>
        </p:spPr>
      </p:cxnSp>
      <p:cxnSp>
        <p:nvCxnSpPr>
          <p:cNvPr id="46" name="直線矢印コネクタ 45"/>
          <p:cNvCxnSpPr>
            <a:stCxn id="6" idx="3"/>
            <a:endCxn id="7" idx="1"/>
          </p:cNvCxnSpPr>
          <p:nvPr/>
        </p:nvCxnSpPr>
        <p:spPr>
          <a:xfrm flipV="1">
            <a:off x="6972300" y="2957513"/>
            <a:ext cx="1028700" cy="690563"/>
          </a:xfrm>
          <a:prstGeom prst="straightConnector1">
            <a:avLst/>
          </a:prstGeom>
          <a:ln w="19050">
            <a:solidFill>
              <a:srgbClr val="7256C9"/>
            </a:solidFill>
            <a:prstDash val="dash"/>
            <a:headEnd type="arrow" w="sm" len="sm"/>
            <a:tailEnd type="arrow" w="sm" len="sm"/>
          </a:ln>
        </p:spPr>
      </p:cxnSp>
      <p:cxnSp>
        <p:nvCxnSpPr>
          <p:cNvPr id="47" name="直線矢印コネクタ 46"/>
          <p:cNvCxnSpPr>
            <a:stCxn id="6" idx="3"/>
            <a:endCxn id="8" idx="1"/>
          </p:cNvCxnSpPr>
          <p:nvPr/>
        </p:nvCxnSpPr>
        <p:spPr>
          <a:xfrm>
            <a:off x="6972300" y="3648075"/>
            <a:ext cx="2952750" cy="0"/>
          </a:xfrm>
          <a:prstGeom prst="straightConnector1">
            <a:avLst/>
          </a:prstGeom>
          <a:ln w="38100">
            <a:solidFill>
              <a:srgbClr val="16804B"/>
            </a:solidFill>
            <a:prstDash val="solid"/>
            <a:tailEnd type="arrow" w="lg" len="lg"/>
          </a:ln>
        </p:spPr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1C1D71E-47DE-47E2-B985-622CFC00F24F}"/>
              </a:ext>
            </a:extLst>
          </p:cNvPr>
          <p:cNvSpPr>
            <a:spLocks noGrp="1"/>
          </p:cNvSpPr>
          <p:nvPr/>
        </p:nvSpPr>
        <p:spPr>
          <a:xfrm>
            <a:off x="857250" y="26860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入力元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E124FAC-6005-4661-9E3B-9034C64F0204}"/>
              </a:ext>
            </a:extLst>
          </p:cNvPr>
          <p:cNvSpPr>
            <a:spLocks noGrp="1"/>
          </p:cNvSpPr>
          <p:nvPr/>
        </p:nvSpPr>
        <p:spPr>
          <a:xfrm>
            <a:off x="857250" y="3162300"/>
            <a:ext cx="17335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LINE / ショートカット</a:t>
            </a:r>
          </a:p>
          <a:p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音声テキスト / 写真</a:t>
            </a:r>
          </a:p>
          <a:p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学校PDF / TimeTree / 伝助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858189C-1D24-42B5-B3CC-CFD859A66279}"/>
              </a:ext>
            </a:extLst>
          </p:cNvPr>
          <p:cNvSpPr>
            <a:spLocks noGrp="1"/>
          </p:cNvSpPr>
          <p:nvPr/>
        </p:nvSpPr>
        <p:spPr>
          <a:xfrm>
            <a:off x="857250" y="4381500"/>
            <a:ext cx="1733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617184"/>
                </a:solidFill>
              </a:defRPr>
            </a:pPr>
            <a:r>
              <a:rPr sz="1200" b="0">
                <a:solidFill>
                  <a:srgbClr val="617184"/>
                </a:solidFill>
              </a:rPr>
              <a:t>集める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E5A987B-EB7C-4786-9D4A-5E61480D79EF}"/>
              </a:ext>
            </a:extLst>
          </p:cNvPr>
          <p:cNvSpPr>
            <a:spLocks noGrp="1"/>
          </p:cNvSpPr>
          <p:nvPr/>
        </p:nvSpPr>
        <p:spPr>
          <a:xfrm>
            <a:off x="4095750" y="2495550"/>
            <a:ext cx="2609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Schedule Hub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1DD5439-D96C-41DC-BCF7-5250D346A3E4}"/>
              </a:ext>
            </a:extLst>
          </p:cNvPr>
          <p:cNvSpPr>
            <a:spLocks noGrp="1"/>
          </p:cNvSpPr>
          <p:nvPr/>
        </p:nvSpPr>
        <p:spPr>
          <a:xfrm>
            <a:off x="4095750" y="2838450"/>
            <a:ext cx="2609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617184"/>
                </a:solidFill>
              </a:defRPr>
            </a:pPr>
            <a:r>
              <a:rPr sz="1125" b="0">
                <a:solidFill>
                  <a:srgbClr val="617184"/>
                </a:solidFill>
              </a:rPr>
              <a:t>Vercel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FCF5485D-95FA-45DD-9776-78B5E1065049}"/>
              </a:ext>
            </a:extLst>
          </p:cNvPr>
          <p:cNvSpPr>
            <a:spLocks noGrp="1"/>
          </p:cNvSpPr>
          <p:nvPr/>
        </p:nvSpPr>
        <p:spPr>
          <a:xfrm>
            <a:off x="4152900" y="3181350"/>
            <a:ext cx="2495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OpenAIが文章・画像・PDFを</a:t>
            </a:r>
          </a:p>
          <a:p>
            <a:pPr algn="ctr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予定候補へ整理</a:t>
            </a:r>
          </a:p>
        </p:txBody>
      </p:sp>
      <p:sp>
        <p:nvSpPr>
          <p:cNvPr id="18" name="角丸四角形 17">
            <a:extLst>
              <a:ext uri="{FF2B5EF4-FFF2-40B4-BE49-F238E27FC236}">
                <a16:creationId xmlns:a16="http://schemas.microsoft.com/office/drawing/2014/main" id="{EA60A1F4-ED4B-4D3A-A758-B4744CE03932}"/>
              </a:ext>
            </a:extLst>
          </p:cNvPr>
          <p:cNvSpPr>
            <a:spLocks noGrp="1"/>
          </p:cNvSpPr>
          <p:nvPr/>
        </p:nvSpPr>
        <p:spPr>
          <a:xfrm>
            <a:off x="4286250" y="3981450"/>
            <a:ext cx="22288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5B660E4-453E-4CAD-BE83-FDA00058D8BE}"/>
              </a:ext>
            </a:extLst>
          </p:cNvPr>
          <p:cNvSpPr>
            <a:spLocks noGrp="1"/>
          </p:cNvSpPr>
          <p:nvPr/>
        </p:nvSpPr>
        <p:spPr>
          <a:xfrm>
            <a:off x="4429125" y="4143375"/>
            <a:ext cx="1943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本人が確認・確定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040B0BF-5B37-4F6A-A3F5-7B4A47C24A6A}"/>
              </a:ext>
            </a:extLst>
          </p:cNvPr>
          <p:cNvSpPr>
            <a:spLocks noGrp="1"/>
          </p:cNvSpPr>
          <p:nvPr/>
        </p:nvSpPr>
        <p:spPr>
          <a:xfrm>
            <a:off x="4143375" y="4743450"/>
            <a:ext cx="2495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617184"/>
                </a:solidFill>
              </a:defRPr>
            </a:pPr>
            <a:r>
              <a:rPr sz="1125" b="0">
                <a:solidFill>
                  <a:srgbClr val="617184"/>
                </a:solidFill>
              </a:rPr>
              <a:t>自動反映しない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7AD9AFBF-2216-45A7-B8CF-32EE1F449244}"/>
              </a:ext>
            </a:extLst>
          </p:cNvPr>
          <p:cNvSpPr>
            <a:spLocks noGrp="1"/>
          </p:cNvSpPr>
          <p:nvPr/>
        </p:nvSpPr>
        <p:spPr>
          <a:xfrm>
            <a:off x="8172450" y="2667000"/>
            <a:ext cx="12763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Supabase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EB7BFBC-D3B9-4E43-A839-A1FDF8AB778A}"/>
              </a:ext>
            </a:extLst>
          </p:cNvPr>
          <p:cNvSpPr>
            <a:spLocks noGrp="1"/>
          </p:cNvSpPr>
          <p:nvPr/>
        </p:nvSpPr>
        <p:spPr>
          <a:xfrm>
            <a:off x="8143875" y="3009900"/>
            <a:ext cx="133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617184"/>
                </a:solidFill>
              </a:defRPr>
            </a:pPr>
            <a:r>
              <a:rPr sz="1125" b="0">
                <a:solidFill>
                  <a:srgbClr val="617184"/>
                </a:solidFill>
              </a:rPr>
              <a:t>候補・学習・監査</a:t>
            </a:r>
          </a:p>
          <a:p>
            <a:pPr algn="ctr">
              <a:defRPr sz="1125" b="0">
                <a:solidFill>
                  <a:srgbClr val="617184"/>
                </a:solidFill>
              </a:defRPr>
            </a:pPr>
            <a:r>
              <a:rPr sz="1125" b="0">
                <a:solidFill>
                  <a:srgbClr val="617184"/>
                </a:solidFill>
              </a:rPr>
              <a:t>画像を120日保持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C4A8D54-D091-4BFE-8DBD-B94EDD8AD20F}"/>
              </a:ext>
            </a:extLst>
          </p:cNvPr>
          <p:cNvSpPr>
            <a:spLocks noGrp="1"/>
          </p:cNvSpPr>
          <p:nvPr/>
        </p:nvSpPr>
        <p:spPr>
          <a:xfrm>
            <a:off x="8029575" y="3733800"/>
            <a:ext cx="156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Google OAuth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6817640B-2F58-43E7-97EC-109E9267B212}"/>
              </a:ext>
            </a:extLst>
          </p:cNvPr>
          <p:cNvSpPr>
            <a:spLocks noGrp="1"/>
          </p:cNvSpPr>
          <p:nvPr/>
        </p:nvSpPr>
        <p:spPr>
          <a:xfrm>
            <a:off x="8029575" y="4000500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617184"/>
                </a:solidFill>
              </a:defRPr>
            </a:pPr>
            <a:r>
              <a:rPr sz="1050" b="0">
                <a:solidFill>
                  <a:srgbClr val="617184"/>
                </a:solidFill>
              </a:rPr>
              <a:t>接続認証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E2B76605-BD53-49C1-9496-DEFA79241750}"/>
              </a:ext>
            </a:extLst>
          </p:cNvPr>
          <p:cNvSpPr>
            <a:spLocks noGrp="1"/>
          </p:cNvSpPr>
          <p:nvPr/>
        </p:nvSpPr>
        <p:spPr>
          <a:xfrm>
            <a:off x="8039100" y="4400550"/>
            <a:ext cx="15430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7256C9"/>
                </a:solidFill>
              </a:defRPr>
            </a:pPr>
            <a:r>
              <a:rPr sz="1200" b="1">
                <a:solidFill>
                  <a:srgbClr val="7256C9"/>
                </a:solidFill>
              </a:rPr>
              <a:t>🌿 TimeTreeは</a:t>
            </a:r>
          </a:p>
          <a:p>
            <a:pPr algn="ctr">
              <a:defRPr sz="1200" b="1">
                <a:solidFill>
                  <a:srgbClr val="7256C9"/>
                </a:solidFill>
              </a:defRPr>
            </a:pPr>
            <a:r>
              <a:rPr sz="1200" b="1">
                <a:solidFill>
                  <a:srgbClr val="7256C9"/>
                </a:solidFill>
              </a:rPr>
              <a:t>Macエージェントで</a:t>
            </a:r>
          </a:p>
          <a:p>
            <a:pPr algn="ctr">
              <a:defRPr sz="1200" b="1">
                <a:solidFill>
                  <a:srgbClr val="7256C9"/>
                </a:solidFill>
              </a:defRPr>
            </a:pPr>
            <a:r>
              <a:rPr sz="1200" b="1">
                <a:solidFill>
                  <a:srgbClr val="7256C9"/>
                </a:solidFill>
              </a:rPr>
              <a:t>読み取り専用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D2C557EB-6EC7-4D56-BB5B-9A9EE0787E0B}"/>
              </a:ext>
            </a:extLst>
          </p:cNvPr>
          <p:cNvSpPr>
            <a:spLocks noGrp="1"/>
          </p:cNvSpPr>
          <p:nvPr/>
        </p:nvSpPr>
        <p:spPr>
          <a:xfrm>
            <a:off x="10115550" y="2571750"/>
            <a:ext cx="1257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16804B"/>
                </a:solidFill>
              </a:defRPr>
            </a:pPr>
            <a:r>
              <a:rPr sz="1800" b="1">
                <a:solidFill>
                  <a:srgbClr val="16804B"/>
                </a:solidFill>
              </a:rPr>
              <a:t>Google</a:t>
            </a:r>
          </a:p>
          <a:p>
            <a:pPr algn="ctr">
              <a:defRPr sz="1800" b="1">
                <a:solidFill>
                  <a:srgbClr val="16804B"/>
                </a:solidFill>
              </a:defRPr>
            </a:pPr>
            <a:r>
              <a:rPr sz="1800" b="1">
                <a:solidFill>
                  <a:srgbClr val="16804B"/>
                </a:solidFill>
              </a:rPr>
              <a:t>Calendar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CB0AE18D-DEB8-48A1-AD3C-4EBFAB1C43B5}"/>
              </a:ext>
            </a:extLst>
          </p:cNvPr>
          <p:cNvSpPr>
            <a:spLocks noGrp="1"/>
          </p:cNvSpPr>
          <p:nvPr/>
        </p:nvSpPr>
        <p:spPr>
          <a:xfrm>
            <a:off x="10115550" y="3381375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6804B"/>
                </a:solidFill>
              </a:defRPr>
            </a:pPr>
            <a:r>
              <a:rPr sz="1500" b="1">
                <a:solidFill>
                  <a:srgbClr val="16804B"/>
                </a:solidFill>
              </a:rPr>
              <a:t>唯一の正本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0C1B8459-677A-4558-9D34-0C321D364F94}"/>
              </a:ext>
            </a:extLst>
          </p:cNvPr>
          <p:cNvSpPr>
            <a:spLocks noGrp="1"/>
          </p:cNvSpPr>
          <p:nvPr/>
        </p:nvSpPr>
        <p:spPr>
          <a:xfrm>
            <a:off x="10115550" y="3810000"/>
            <a:ext cx="12573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確定後だけ</a:t>
            </a:r>
          </a:p>
          <a:p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作成・更新・削除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D74557B8-D6D6-4014-9647-4C5163E018DA}"/>
              </a:ext>
            </a:extLst>
          </p:cNvPr>
          <p:cNvSpPr>
            <a:spLocks noGrp="1"/>
          </p:cNvSpPr>
          <p:nvPr/>
        </p:nvSpPr>
        <p:spPr>
          <a:xfrm>
            <a:off x="10115550" y="4514850"/>
            <a:ext cx="1257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617184"/>
                </a:solidFill>
              </a:defRPr>
            </a:pPr>
            <a:r>
              <a:rPr sz="1050" b="0">
                <a:solidFill>
                  <a:srgbClr val="617184"/>
                </a:solidFill>
              </a:rPr>
              <a:t>7日間元に戻せる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DA2E2728-8AE7-4C12-B96E-DFFCB55EF87B}"/>
              </a:ext>
            </a:extLst>
          </p:cNvPr>
          <p:cNvSpPr>
            <a:spLocks noGrp="1"/>
          </p:cNvSpPr>
          <p:nvPr/>
        </p:nvSpPr>
        <p:spPr>
          <a:xfrm>
            <a:off x="7239000" y="514350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6804B"/>
                </a:solidFill>
              </a:defRPr>
            </a:pPr>
            <a:r>
              <a:rPr sz="1125" b="1">
                <a:solidFill>
                  <a:srgbClr val="16804B"/>
                </a:solidFill>
              </a:rPr>
              <a:t>明示的な確定後のみ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A1E6BCE5-5E24-4E7E-A1FD-041D5E679C03}"/>
              </a:ext>
            </a:extLst>
          </p:cNvPr>
          <p:cNvSpPr>
            <a:spLocks noGrp="1"/>
          </p:cNvSpPr>
          <p:nvPr/>
        </p:nvSpPr>
        <p:spPr>
          <a:xfrm>
            <a:off x="533400" y="5562600"/>
            <a:ext cx="11125200" cy="9525"/>
          </a:xfrm>
          <a:prstGeom prst="rect">
            <a:avLst/>
          </a:prstGeom>
          <a:solidFill>
            <a:srgbClr val="CFD8E3"/>
          </a:solidFill>
          <a:ln w="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39878748-D027-4FD0-B0BA-8D519FAD111F}"/>
              </a:ext>
            </a:extLst>
          </p:cNvPr>
          <p:cNvSpPr>
            <a:spLocks noGrp="1"/>
          </p:cNvSpPr>
          <p:nvPr/>
        </p:nvSpPr>
        <p:spPr>
          <a:xfrm>
            <a:off x="533400" y="5810250"/>
            <a:ext cx="1466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大切なルール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C0CF2A0F-F415-44AD-905E-F8D69E2F6FF1}"/>
              </a:ext>
            </a:extLst>
          </p:cNvPr>
          <p:cNvSpPr>
            <a:spLocks noGrp="1"/>
          </p:cNvSpPr>
          <p:nvPr/>
        </p:nvSpPr>
        <p:spPr>
          <a:xfrm>
            <a:off x="2095500" y="5772150"/>
            <a:ext cx="914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確認なしの登録なし　／　TimeTree・伝助へ書き込まない　／　日時は日本時間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1649ECE8-70A0-484F-A7C2-2A57DC2C73AD}"/>
              </a:ext>
            </a:extLst>
          </p:cNvPr>
          <p:cNvSpPr>
            <a:spLocks noGrp="1"/>
          </p:cNvSpPr>
          <p:nvPr/>
        </p:nvSpPr>
        <p:spPr>
          <a:xfrm>
            <a:off x="533400" y="6429375"/>
            <a:ext cx="11125200" cy="9525"/>
          </a:xfrm>
          <a:prstGeom prst="rect">
            <a:avLst/>
          </a:prstGeom>
          <a:solidFill>
            <a:srgbClr val="CFD8E3"/>
          </a:solidFill>
          <a:ln w="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39CF4BB9-4A07-402D-B059-20B824FEDA01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17184"/>
                </a:solidFill>
              </a:defRPr>
            </a:pPr>
            <a:r>
              <a:rPr sz="825" b="1">
                <a:solidFill>
                  <a:srgbClr val="617184"/>
                </a:solidFill>
              </a:rPr>
              <a:t>SCHEDULE HUB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8B6D2EB5-0434-499E-8BDB-ED40243DCFF0}"/>
              </a:ext>
            </a:extLst>
          </p:cNvPr>
          <p:cNvSpPr>
            <a:spLocks noGrp="1"/>
          </p:cNvSpPr>
          <p:nvPr/>
        </p:nvSpPr>
        <p:spPr>
          <a:xfrm>
            <a:off x="10782300" y="654367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0">
                <a:solidFill>
                  <a:srgbClr val="617184"/>
                </a:solidFill>
              </a:defRPr>
            </a:pPr>
            <a:r>
              <a:rPr sz="825" b="0">
                <a:solidFill>
                  <a:srgbClr val="617184"/>
                </a:solidFill>
              </a:rPr>
              <a:t>2 / 3</a:t>
            </a:r>
          </a:p>
        </p:txBody>
      </p:sp>
    </p:spTree>
    <p:extLst>
      <p:ext uri="{BB962C8B-B14F-4D97-AF65-F5344CB8AC3E}">
        <p14:creationId xmlns:p14="http://schemas.microsoft.com/office/powerpoint/2010/main" val="1430452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角丸四角形 33">
            <a:extLst>
              <a:ext uri="{FF2B5EF4-FFF2-40B4-BE49-F238E27FC236}">
                <a16:creationId xmlns:a16="http://schemas.microsoft.com/office/drawing/2014/main" id="{AE4E7F38-F84F-49B1-898E-8076E986CF0C}"/>
              </a:ext>
            </a:extLst>
          </p:cNvPr>
          <p:cNvSpPr>
            <a:spLocks noGrp="1"/>
          </p:cNvSpPr>
          <p:nvPr/>
        </p:nvSpPr>
        <p:spPr>
          <a:xfrm>
            <a:off x="533400" y="476250"/>
            <a:ext cx="723900" cy="266700"/>
          </a:xfrm>
          <a:prstGeom prst="roundRect">
            <a:avLst>
              <a:gd name="adj" fmla="val 50000"/>
            </a:avLst>
          </a:prstGeom>
          <a:solidFill>
            <a:srgbClr val="16804B"/>
          </a:solidFill>
          <a:ln w="9525">
            <a:solidFill>
              <a:srgbClr val="1680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2EC6863-9E0D-4193-BD52-96C5AFEA195C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実例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0A8F901-2B1E-4466-A9D6-150CA978C60E}"/>
              </a:ext>
            </a:extLst>
          </p:cNvPr>
          <p:cNvSpPr>
            <a:spLocks noGrp="1"/>
          </p:cNvSpPr>
          <p:nvPr/>
        </p:nvSpPr>
        <p:spPr>
          <a:xfrm>
            <a:off x="533400" y="971550"/>
            <a:ext cx="1000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LINEの案内を、そのまま予定として使える形にする。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626784D-324A-4731-9C23-B87862E4DFA4}"/>
              </a:ext>
            </a:extLst>
          </p:cNvPr>
          <p:cNvSpPr>
            <a:spLocks noGrp="1"/>
          </p:cNvSpPr>
          <p:nvPr/>
        </p:nvSpPr>
        <p:spPr>
          <a:xfrm>
            <a:off x="533400" y="156210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17184"/>
                </a:solidFill>
              </a:defRPr>
            </a:pPr>
            <a:r>
              <a:rPr sz="1500" b="0">
                <a:solidFill>
                  <a:srgbClr val="617184"/>
                </a:solidFill>
              </a:rPr>
              <a:t>タイトル・日付・時刻・場所を取り出し、最後は確認画面で直してから登録します。</a:t>
            </a:r>
          </a:p>
        </p:txBody>
      </p: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A84C7EB1-4F49-4BDA-BBAF-F15FC2865CF6}"/>
              </a:ext>
            </a:extLst>
          </p:cNvPr>
          <p:cNvSpPr>
            <a:spLocks noGrp="1"/>
          </p:cNvSpPr>
          <p:nvPr/>
        </p:nvSpPr>
        <p:spPr>
          <a:xfrm>
            <a:off x="533400" y="2400300"/>
            <a:ext cx="3429000" cy="2724150"/>
          </a:xfrm>
          <a:prstGeom prst="roundRect">
            <a:avLst>
              <a:gd name="adj" fmla="val 5594"/>
            </a:avLst>
          </a:prstGeom>
          <a:solidFill>
            <a:srgbClr val="EAF3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13B336D0-86E0-4F22-AB78-D6A88907FB6D}"/>
              </a:ext>
            </a:extLst>
          </p:cNvPr>
          <p:cNvSpPr>
            <a:spLocks noGrp="1"/>
          </p:cNvSpPr>
          <p:nvPr/>
        </p:nvSpPr>
        <p:spPr>
          <a:xfrm>
            <a:off x="4476750" y="2400300"/>
            <a:ext cx="3048000" cy="2724150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1905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4268AFD2-5690-4C5E-99D3-004982624709}"/>
              </a:ext>
            </a:extLst>
          </p:cNvPr>
          <p:cNvSpPr>
            <a:spLocks noGrp="1"/>
          </p:cNvSpPr>
          <p:nvPr/>
        </p:nvSpPr>
        <p:spPr>
          <a:xfrm>
            <a:off x="8039100" y="2400300"/>
            <a:ext cx="3238500" cy="2724150"/>
          </a:xfrm>
          <a:prstGeom prst="roundRect">
            <a:avLst>
              <a:gd name="adj" fmla="val 5594"/>
            </a:avLst>
          </a:prstGeom>
          <a:solidFill>
            <a:srgbClr val="EAF8F1"/>
          </a:solidFill>
          <a:ln w="19050">
            <a:solidFill>
              <a:srgbClr val="1680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41" name="直線矢印コネクタ 40"/>
          <p:cNvCxnSpPr>
            <a:stCxn id="5" idx="3"/>
            <a:endCxn id="6" idx="1"/>
          </p:cNvCxnSpPr>
          <p:nvPr/>
        </p:nvCxnSpPr>
        <p:spPr>
          <a:xfrm>
            <a:off x="3962400" y="3762375"/>
            <a:ext cx="514350" cy="0"/>
          </a:xfrm>
          <a:prstGeom prst="straightConnector1">
            <a:avLst/>
          </a:prstGeom>
          <a:ln w="28575">
            <a:solidFill>
              <a:srgbClr val="2563EB"/>
            </a:solidFill>
            <a:prstDash val="solid"/>
            <a:tailEnd type="arrow" w="med" len="med"/>
          </a:ln>
        </p:spPr>
      </p:cxnSp>
      <p:cxnSp>
        <p:nvCxnSpPr>
          <p:cNvPr id="42" name="直線矢印コネクタ 41"/>
          <p:cNvCxnSpPr>
            <a:stCxn id="6" idx="3"/>
            <a:endCxn id="7" idx="1"/>
          </p:cNvCxnSpPr>
          <p:nvPr/>
        </p:nvCxnSpPr>
        <p:spPr>
          <a:xfrm>
            <a:off x="7524750" y="3762375"/>
            <a:ext cx="514350" cy="0"/>
          </a:xfrm>
          <a:prstGeom prst="straightConnector1">
            <a:avLst/>
          </a:prstGeom>
          <a:ln w="28575">
            <a:solidFill>
              <a:srgbClr val="16804B"/>
            </a:solidFill>
            <a:prstDash val="solid"/>
            <a:tailEnd type="arrow" w="med" len="med"/>
          </a:ln>
        </p:spPr>
      </p:cxn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E0E1341-748E-41A7-9673-2EC906A22247}"/>
              </a:ext>
            </a:extLst>
          </p:cNvPr>
          <p:cNvSpPr>
            <a:spLocks noGrp="1"/>
          </p:cNvSpPr>
          <p:nvPr/>
        </p:nvSpPr>
        <p:spPr>
          <a:xfrm>
            <a:off x="762000" y="26098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① LINEで届いた案内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46207F8-9DEC-4411-BA67-25C13CD38CEC}"/>
              </a:ext>
            </a:extLst>
          </p:cNvPr>
          <p:cNvSpPr>
            <a:spLocks noGrp="1"/>
          </p:cNvSpPr>
          <p:nvPr/>
        </p:nvSpPr>
        <p:spPr>
          <a:xfrm>
            <a:off x="819150" y="3143250"/>
            <a:ext cx="28194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「次回は夏合宿明け 8/18</a:t>
            </a:r>
          </a:p>
          <a:p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11:00〜13:00</a:t>
            </a:r>
          </a:p>
          <a:p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けやきグラウンドで開催します」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1BF7D0C-1375-4955-B4CA-E2DD1C522525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2914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617184"/>
                </a:solidFill>
              </a:defRPr>
            </a:pPr>
            <a:r>
              <a:rPr sz="1200" b="0">
                <a:solidFill>
                  <a:srgbClr val="617184"/>
                </a:solidFill>
              </a:rPr>
              <a:t>共有 → ショートカットで送る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E20086B-BC1D-4DF6-9DF0-0F0E3FD97640}"/>
              </a:ext>
            </a:extLst>
          </p:cNvPr>
          <p:cNvSpPr>
            <a:spLocks noGrp="1"/>
          </p:cNvSpPr>
          <p:nvPr/>
        </p:nvSpPr>
        <p:spPr>
          <a:xfrm>
            <a:off x="4686300" y="2609850"/>
            <a:ext cx="2628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② 登録前の確認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D2A5931-F752-45C0-96F0-3670FC1E3DD6}"/>
              </a:ext>
            </a:extLst>
          </p:cNvPr>
          <p:cNvSpPr>
            <a:spLocks noGrp="1"/>
          </p:cNvSpPr>
          <p:nvPr/>
        </p:nvSpPr>
        <p:spPr>
          <a:xfrm>
            <a:off x="4724400" y="3105150"/>
            <a:ext cx="2552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 dirty="0" err="1">
                <a:solidFill>
                  <a:srgbClr val="102A43"/>
                </a:solidFill>
              </a:rPr>
              <a:t>恭佑：自主練</a:t>
            </a:r>
            <a:endParaRPr sz="1650" b="1" dirty="0">
              <a:solidFill>
                <a:srgbClr val="102A43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D0DF197-1E7E-4236-8A5B-7D7982A8994E}"/>
              </a:ext>
            </a:extLst>
          </p:cNvPr>
          <p:cNvSpPr>
            <a:spLocks noGrp="1"/>
          </p:cNvSpPr>
          <p:nvPr/>
        </p:nvSpPr>
        <p:spPr>
          <a:xfrm>
            <a:off x="4810125" y="3552825"/>
            <a:ext cx="2381250" cy="9525"/>
          </a:xfrm>
          <a:prstGeom prst="rect">
            <a:avLst/>
          </a:prstGeom>
          <a:solidFill>
            <a:srgbClr val="CFD8E3"/>
          </a:solidFill>
          <a:ln w="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EA9167F-0421-49C5-AC9B-ECB5173D7A82}"/>
              </a:ext>
            </a:extLst>
          </p:cNvPr>
          <p:cNvSpPr>
            <a:spLocks noGrp="1"/>
          </p:cNvSpPr>
          <p:nvPr/>
        </p:nvSpPr>
        <p:spPr>
          <a:xfrm>
            <a:off x="4800600" y="37147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2026/08/18（月）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AF6C60DA-D262-449D-A5D9-01F1E4B24E2A}"/>
              </a:ext>
            </a:extLst>
          </p:cNvPr>
          <p:cNvSpPr>
            <a:spLocks noGrp="1"/>
          </p:cNvSpPr>
          <p:nvPr/>
        </p:nvSpPr>
        <p:spPr>
          <a:xfrm>
            <a:off x="4800600" y="4029075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11:00 〜 13:00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229C364-77AA-43FC-9D09-69E5B815E074}"/>
              </a:ext>
            </a:extLst>
          </p:cNvPr>
          <p:cNvSpPr>
            <a:spLocks noGrp="1"/>
          </p:cNvSpPr>
          <p:nvPr/>
        </p:nvSpPr>
        <p:spPr>
          <a:xfrm>
            <a:off x="4800600" y="4362450"/>
            <a:ext cx="2400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617184"/>
                </a:solidFill>
              </a:defRPr>
            </a:pPr>
            <a:r>
              <a:rPr sz="1200" b="0">
                <a:solidFill>
                  <a:srgbClr val="617184"/>
                </a:solidFill>
              </a:rPr>
              <a:t>場所：けやきグラウンド</a:t>
            </a:r>
          </a:p>
        </p:txBody>
      </p:sp>
      <p:sp>
        <p:nvSpPr>
          <p:cNvPr id="19" name="角丸四角形 18">
            <a:extLst>
              <a:ext uri="{FF2B5EF4-FFF2-40B4-BE49-F238E27FC236}">
                <a16:creationId xmlns:a16="http://schemas.microsoft.com/office/drawing/2014/main" id="{70669561-45E5-4744-9A3F-C5A81E9CD11D}"/>
              </a:ext>
            </a:extLst>
          </p:cNvPr>
          <p:cNvSpPr>
            <a:spLocks noGrp="1"/>
          </p:cNvSpPr>
          <p:nvPr/>
        </p:nvSpPr>
        <p:spPr>
          <a:xfrm>
            <a:off x="5153025" y="4695825"/>
            <a:ext cx="16954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532CDD2D-E644-4D61-87CE-E66051197CDA}"/>
              </a:ext>
            </a:extLst>
          </p:cNvPr>
          <p:cNvSpPr>
            <a:spLocks noGrp="1"/>
          </p:cNvSpPr>
          <p:nvPr/>
        </p:nvSpPr>
        <p:spPr>
          <a:xfrm>
            <a:off x="5238750" y="472440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本人が確認・確定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6F72D8E-CD7D-4664-AB93-915DDF7F9D55}"/>
              </a:ext>
            </a:extLst>
          </p:cNvPr>
          <p:cNvSpPr>
            <a:spLocks noGrp="1"/>
          </p:cNvSpPr>
          <p:nvPr/>
        </p:nvSpPr>
        <p:spPr>
          <a:xfrm>
            <a:off x="8305800" y="2609850"/>
            <a:ext cx="270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6804B"/>
                </a:solidFill>
              </a:defRPr>
            </a:pPr>
            <a:r>
              <a:rPr sz="1575" b="1">
                <a:solidFill>
                  <a:srgbClr val="16804B"/>
                </a:solidFill>
              </a:rPr>
              <a:t>③ Google Calendar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4AD6DC56-6272-4F46-A2E6-30A3A8C48445}"/>
              </a:ext>
            </a:extLst>
          </p:cNvPr>
          <p:cNvSpPr>
            <a:spLocks noGrp="1"/>
          </p:cNvSpPr>
          <p:nvPr/>
        </p:nvSpPr>
        <p:spPr>
          <a:xfrm>
            <a:off x="8305800" y="3086100"/>
            <a:ext cx="2686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617184"/>
                </a:solidFill>
              </a:defRPr>
            </a:pPr>
            <a:r>
              <a:rPr sz="1275" b="0">
                <a:solidFill>
                  <a:srgbClr val="617184"/>
                </a:solidFill>
              </a:rPr>
              <a:t>8月18日（月）</a:t>
            </a:r>
          </a:p>
        </p:txBody>
      </p:sp>
      <p:sp>
        <p:nvSpPr>
          <p:cNvPr id="23" name="角丸四角形 22">
            <a:extLst>
              <a:ext uri="{FF2B5EF4-FFF2-40B4-BE49-F238E27FC236}">
                <a16:creationId xmlns:a16="http://schemas.microsoft.com/office/drawing/2014/main" id="{34B3BDF6-35AB-42E0-A533-273CE02DFE77}"/>
              </a:ext>
            </a:extLst>
          </p:cNvPr>
          <p:cNvSpPr>
            <a:spLocks noGrp="1"/>
          </p:cNvSpPr>
          <p:nvPr/>
        </p:nvSpPr>
        <p:spPr>
          <a:xfrm>
            <a:off x="8391525" y="3448050"/>
            <a:ext cx="253365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9FD5B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593549B-BFED-48EE-A3AE-EC2453F4010B}"/>
              </a:ext>
            </a:extLst>
          </p:cNvPr>
          <p:cNvSpPr>
            <a:spLocks noGrp="1"/>
          </p:cNvSpPr>
          <p:nvPr/>
        </p:nvSpPr>
        <p:spPr>
          <a:xfrm>
            <a:off x="8553450" y="3581400"/>
            <a:ext cx="2209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6804B"/>
                </a:solidFill>
              </a:defRPr>
            </a:pPr>
            <a:r>
              <a:rPr sz="1275" b="1">
                <a:solidFill>
                  <a:srgbClr val="16804B"/>
                </a:solidFill>
              </a:rPr>
              <a:t>11:00〜13:00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2C0BE839-7B05-4E25-B0EE-D695CEBD7775}"/>
              </a:ext>
            </a:extLst>
          </p:cNvPr>
          <p:cNvSpPr>
            <a:spLocks noGrp="1"/>
          </p:cNvSpPr>
          <p:nvPr/>
        </p:nvSpPr>
        <p:spPr>
          <a:xfrm>
            <a:off x="8496300" y="3848100"/>
            <a:ext cx="2324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 dirty="0" err="1">
                <a:solidFill>
                  <a:srgbClr val="172033"/>
                </a:solidFill>
              </a:rPr>
              <a:t>恭佑：自主練</a:t>
            </a:r>
            <a:endParaRPr sz="1425" b="1" dirty="0">
              <a:solidFill>
                <a:srgbClr val="172033"/>
              </a:solidFill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2DFCA191-A5B3-455C-A3D0-37D2EBAADD8D}"/>
              </a:ext>
            </a:extLst>
          </p:cNvPr>
          <p:cNvSpPr>
            <a:spLocks noGrp="1"/>
          </p:cNvSpPr>
          <p:nvPr/>
        </p:nvSpPr>
        <p:spPr>
          <a:xfrm>
            <a:off x="8582025" y="4124325"/>
            <a:ext cx="2152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617184"/>
                </a:solidFill>
              </a:defRPr>
            </a:pPr>
            <a:r>
              <a:rPr sz="1050" b="0">
                <a:solidFill>
                  <a:srgbClr val="617184"/>
                </a:solidFill>
              </a:rPr>
              <a:t>けやきグラウンド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A81ACDCB-84A3-4A21-BB28-166E040C6C13}"/>
              </a:ext>
            </a:extLst>
          </p:cNvPr>
          <p:cNvSpPr>
            <a:spLocks noGrp="1"/>
          </p:cNvSpPr>
          <p:nvPr/>
        </p:nvSpPr>
        <p:spPr>
          <a:xfrm>
            <a:off x="8248650" y="4572000"/>
            <a:ext cx="28003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617184"/>
                </a:solidFill>
              </a:defRPr>
            </a:pPr>
            <a:r>
              <a:rPr sz="1200" b="0">
                <a:solidFill>
                  <a:srgbClr val="617184"/>
                </a:solidFill>
              </a:rPr>
              <a:t>予定として見える・家族で確認できる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5F9A2449-C632-4AF2-97B3-19ADFAE64C74}"/>
              </a:ext>
            </a:extLst>
          </p:cNvPr>
          <p:cNvSpPr>
            <a:spLocks noGrp="1"/>
          </p:cNvSpPr>
          <p:nvPr/>
        </p:nvSpPr>
        <p:spPr>
          <a:xfrm>
            <a:off x="533400" y="5562600"/>
            <a:ext cx="11125200" cy="9525"/>
          </a:xfrm>
          <a:prstGeom prst="rect">
            <a:avLst/>
          </a:prstGeom>
          <a:solidFill>
            <a:srgbClr val="CFD8E3"/>
          </a:solidFill>
          <a:ln w="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BC32D726-BF86-40E7-AF5B-7DCA641C01E6}"/>
              </a:ext>
            </a:extLst>
          </p:cNvPr>
          <p:cNvSpPr>
            <a:spLocks noGrp="1"/>
          </p:cNvSpPr>
          <p:nvPr/>
        </p:nvSpPr>
        <p:spPr>
          <a:xfrm>
            <a:off x="533400" y="58102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6804B"/>
                </a:solidFill>
              </a:defRPr>
            </a:pPr>
            <a:r>
              <a:rPr sz="1350" b="1">
                <a:solidFill>
                  <a:srgbClr val="16804B"/>
                </a:solidFill>
              </a:rPr>
              <a:t>ポイント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AF335417-2E0A-4C8A-8D41-E34927CF00BC}"/>
              </a:ext>
            </a:extLst>
          </p:cNvPr>
          <p:cNvSpPr>
            <a:spLocks noGrp="1"/>
          </p:cNvSpPr>
          <p:nvPr/>
        </p:nvSpPr>
        <p:spPr>
          <a:xfrm>
            <a:off x="1581150" y="5772150"/>
            <a:ext cx="962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文章をそのままタイトルにせず、必要な情報に分けてから、間違いを直せる状態で確認する。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174EB58D-8755-4D78-9A8F-9BA2F0ED0D00}"/>
              </a:ext>
            </a:extLst>
          </p:cNvPr>
          <p:cNvSpPr>
            <a:spLocks noGrp="1"/>
          </p:cNvSpPr>
          <p:nvPr/>
        </p:nvSpPr>
        <p:spPr>
          <a:xfrm>
            <a:off x="533400" y="6429375"/>
            <a:ext cx="11125200" cy="9525"/>
          </a:xfrm>
          <a:prstGeom prst="rect">
            <a:avLst/>
          </a:prstGeom>
          <a:solidFill>
            <a:srgbClr val="CFD8E3"/>
          </a:solidFill>
          <a:ln w="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94B97CC0-B408-496B-ADE0-80BA297DD0CE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17184"/>
                </a:solidFill>
              </a:defRPr>
            </a:pPr>
            <a:r>
              <a:rPr sz="825" b="1">
                <a:solidFill>
                  <a:srgbClr val="617184"/>
                </a:solidFill>
              </a:rPr>
              <a:t>SCHEDULE HUB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9738B5C9-B8D5-4A51-9B53-F7C375251ABC}"/>
              </a:ext>
            </a:extLst>
          </p:cNvPr>
          <p:cNvSpPr>
            <a:spLocks noGrp="1"/>
          </p:cNvSpPr>
          <p:nvPr/>
        </p:nvSpPr>
        <p:spPr>
          <a:xfrm>
            <a:off x="10782300" y="654367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0">
                <a:solidFill>
                  <a:srgbClr val="617184"/>
                </a:solidFill>
              </a:defRPr>
            </a:pPr>
            <a:r>
              <a:rPr sz="825" b="0">
                <a:solidFill>
                  <a:srgbClr val="617184"/>
                </a:solidFill>
              </a:rPr>
              <a:t>3 / 3</a:t>
            </a:r>
          </a:p>
        </p:txBody>
      </p:sp>
    </p:spTree>
    <p:extLst>
      <p:ext uri="{BB962C8B-B14F-4D97-AF65-F5344CB8AC3E}">
        <p14:creationId xmlns:p14="http://schemas.microsoft.com/office/powerpoint/2010/main" val="180049607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</Words>
  <Application>Microsoft Macintosh PowerPoint</Application>
  <DocSecurity>0</DocSecurity>
  <PresentationFormat>ワイド画面</PresentationFormat>
  <Paragraphs>89</Paragraphs>
  <Slides>3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5" baseType="lpstr">
      <vt:lpstr>Calibri</vt:lpstr>
      <vt:lpstr>ChatGPT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Kazumichi Wada</cp:lastModifiedBy>
  <cp:revision>1</cp:revision>
  <dcterms:created xsi:type="dcterms:W3CDTF">2026-08-23T09:57:45Z</dcterms:created>
  <dcterms:modified xsi:type="dcterms:W3CDTF">2026-08-23T10:04:55Z</dcterms:modified>
</cp:coreProperties>
</file>